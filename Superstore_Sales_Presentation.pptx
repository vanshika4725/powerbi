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ededd5-844c-b5c9-06eb-f6bc842d4a28}">
          <p14:sldIdLst>
            <p14:sldId id="256"/>
            <p14:sldId id="257"/>
          </p14:sldIdLst>
        </p14:section>
        <p14:section name="Performance" id="{ea780e0c-8244-395a-0b5c-d9bb9ca213a5}">
          <p14:sldIdLst>
            <p14:sldId id="258"/>
            <p14:sldId id="259"/>
            <p14:sldId id="260"/>
          </p14:sldIdLst>
        </p14:section>
        <p14:section name="Problem areas" id="{717eecd8-4306-e6c6-5a40-171c6045186b}">
          <p14:sldIdLst>
            <p14:sldId id="261"/>
            <p14:sldId id="262"/>
            <p14:sldId id="263"/>
            <p14:sldId id="264"/>
          </p14:sldIdLst>
        </p14:section>
        <p14:section name="Actions" id="{eae4e988-085d-d151-0266-9ad9d97fb7bf}">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Sales and profit by year ($K)</a:t>
            </a:r>
          </a:p>
        </c:rich>
      </c:tx>
      <c:layout/>
      <c:overlay val="0"/>
    </c:title>
    <c:autoTitleDeleted val="0"/>
    <c:plotArea>
      <c:layout/>
      <c:barChart>
        <c:barDir val="col"/>
        <c:grouping val="clustered"/>
        <c:varyColors val="0"/>
        <c:ser>
          <c:idx val="0"/>
          <c:order val="0"/>
          <c:tx>
            <c:strRef>
              <c:f>Sheet1!$B$1</c:f>
              <c:strCache>
                <c:ptCount val="1"/>
                <c:pt idx="0">
                  <c:v>Sales ($K)</c:v>
                </c:pt>
              </c:strCache>
            </c:strRef>
          </c:tx>
          <c:spPr>
            <a:solidFill>
              <a:srgbClr val="2A9D8F"/>
            </a:solidFill>
            <a:effectLst/>
          </c:spPr>
          <c:invertIfNegative val="0"/>
          <c:dLbls>
            <c:numFmt formatCode="$#,##0&quot;K&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2014</c:v>
                  </c:pt>
                  <c:pt idx="1">
                    <c:v>2015</c:v>
                  </c:pt>
                  <c:pt idx="2">
                    <c:v>2016</c:v>
                  </c:pt>
                  <c:pt idx="3">
                    <c:v>2017</c:v>
                  </c:pt>
                </c:lvl>
              </c:multiLvlStrCache>
            </c:multiLvlStrRef>
          </c:cat>
          <c:val>
            <c:numRef>
              <c:f>Sheet1!$B$2:$B$5</c:f>
              <c:numCache>
                <c:formatCode>General</c:formatCode>
                <c:ptCount val="4"/>
                <c:pt idx="0">
                  <c:v>484</c:v>
                </c:pt>
                <c:pt idx="1">
                  <c:v>471</c:v>
                </c:pt>
                <c:pt idx="2">
                  <c:v>609</c:v>
                </c:pt>
                <c:pt idx="3">
                  <c:v>733</c:v>
                </c:pt>
              </c:numCache>
            </c:numRef>
          </c:val>
        </c:ser>
        <c:ser>
          <c:idx val="1"/>
          <c:order val="1"/>
          <c:tx>
            <c:strRef>
              <c:f>Sheet1!$C$1</c:f>
              <c:strCache>
                <c:ptCount val="1"/>
                <c:pt idx="0">
                  <c:v>Profit ($K)</c:v>
                </c:pt>
              </c:strCache>
            </c:strRef>
          </c:tx>
          <c:spPr>
            <a:solidFill>
              <a:srgbClr val="F4A261"/>
            </a:solidFill>
            <a:effectLst/>
          </c:spPr>
          <c:invertIfNegative val="0"/>
          <c:dLbls>
            <c:numFmt formatCode="$#,##0&quot;K&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2014</c:v>
                  </c:pt>
                  <c:pt idx="1">
                    <c:v>2015</c:v>
                  </c:pt>
                  <c:pt idx="2">
                    <c:v>2016</c:v>
                  </c:pt>
                  <c:pt idx="3">
                    <c:v>2017</c:v>
                  </c:pt>
                </c:lvl>
              </c:multiLvlStrCache>
            </c:multiLvlStrRef>
          </c:cat>
          <c:val>
            <c:numRef>
              <c:f>Sheet1!$C$2:$C$5</c:f>
              <c:numCache>
                <c:formatCode>General</c:formatCode>
                <c:ptCount val="4"/>
                <c:pt idx="0">
                  <c:v>50</c:v>
                </c:pt>
                <c:pt idx="1">
                  <c:v>62</c:v>
                </c:pt>
                <c:pt idx="2">
                  <c:v>82</c:v>
                </c:pt>
                <c:pt idx="3">
                  <c:v>93</c:v>
                </c:pt>
              </c:numCache>
            </c:numRef>
          </c:val>
        </c:ser>
        <c:dLbls>
          <c:numFmt formatCode="$#,##0&quot;K&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9E2E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Total sales by month, all four years ($K)</a:t>
            </a:r>
          </a:p>
        </c:rich>
      </c:tx>
      <c:layout/>
      <c:overlay val="0"/>
    </c:title>
    <c:autoTitleDeleted val="0"/>
    <c:plotArea>
      <c:layout/>
      <c:barChart>
        <c:barDir val="col"/>
        <c:grouping val="clustered"/>
        <c:varyColors val="0"/>
        <c:ser>
          <c:idx val="0"/>
          <c:order val="0"/>
          <c:tx>
            <c:strRef>
              <c:f>Sheet1!$B$1</c:f>
              <c:strCache>
                <c:ptCount val="1"/>
                <c:pt idx="0">
                  <c:v>Sales ($K)</c:v>
                </c:pt>
              </c:strCache>
            </c:strRef>
          </c:tx>
          <c:spPr>
            <a:solidFill>
              <a:srgbClr val="2A9D8F"/>
            </a:solidFill>
            <a:effectLst/>
          </c:spPr>
          <c:invertIfNegative val="0"/>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95</c:v>
                </c:pt>
                <c:pt idx="1">
                  <c:v>60</c:v>
                </c:pt>
                <c:pt idx="2">
                  <c:v>205</c:v>
                </c:pt>
                <c:pt idx="3">
                  <c:v>138</c:v>
                </c:pt>
                <c:pt idx="4">
                  <c:v>155</c:v>
                </c:pt>
                <c:pt idx="5">
                  <c:v>153</c:v>
                </c:pt>
                <c:pt idx="6">
                  <c:v>147</c:v>
                </c:pt>
                <c:pt idx="7">
                  <c:v>159</c:v>
                </c:pt>
                <c:pt idx="8">
                  <c:v>308</c:v>
                </c:pt>
                <c:pt idx="9">
                  <c:v>200</c:v>
                </c:pt>
                <c:pt idx="10">
                  <c:v>352</c:v>
                </c:pt>
                <c:pt idx="11">
                  <c:v>325</c:v>
                </c:pt>
              </c:numCache>
            </c:numRef>
          </c:val>
        </c:ser>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9E2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Sales and profit by category ($K)</a:t>
            </a:r>
          </a:p>
        </c:rich>
      </c:tx>
      <c:layout/>
      <c:overlay val="0"/>
    </c:title>
    <c:autoTitleDeleted val="0"/>
    <c:plotArea>
      <c:layout/>
      <c:barChart>
        <c:barDir val="col"/>
        <c:grouping val="clustered"/>
        <c:varyColors val="0"/>
        <c:ser>
          <c:idx val="0"/>
          <c:order val="0"/>
          <c:tx>
            <c:strRef>
              <c:f>Sheet1!$B$1</c:f>
              <c:strCache>
                <c:ptCount val="1"/>
                <c:pt idx="0">
                  <c:v>Sales ($K)</c:v>
                </c:pt>
              </c:strCache>
            </c:strRef>
          </c:tx>
          <c:spPr>
            <a:solidFill>
              <a:srgbClr val="2A9D8F"/>
            </a:solidFill>
            <a:effectLst/>
          </c:spPr>
          <c:invertIfNegative val="0"/>
          <c:dLbls>
            <c:numFmt formatCode="$#,##0&quot;K&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Technology</c:v>
                  </c:pt>
                  <c:pt idx="1">
                    <c:v>Office Supplies</c:v>
                  </c:pt>
                  <c:pt idx="2">
                    <c:v>Furniture</c:v>
                  </c:pt>
                </c:lvl>
              </c:multiLvlStrCache>
            </c:multiLvlStrRef>
          </c:cat>
          <c:val>
            <c:numRef>
              <c:f>Sheet1!$B$2:$B$4</c:f>
              <c:numCache>
                <c:formatCode>General</c:formatCode>
                <c:ptCount val="3"/>
                <c:pt idx="0">
                  <c:v>836</c:v>
                </c:pt>
                <c:pt idx="1">
                  <c:v>719</c:v>
                </c:pt>
                <c:pt idx="2">
                  <c:v>742</c:v>
                </c:pt>
              </c:numCache>
            </c:numRef>
          </c:val>
        </c:ser>
        <c:ser>
          <c:idx val="1"/>
          <c:order val="1"/>
          <c:tx>
            <c:strRef>
              <c:f>Sheet1!$C$1</c:f>
              <c:strCache>
                <c:ptCount val="1"/>
                <c:pt idx="0">
                  <c:v>Profit ($K)</c:v>
                </c:pt>
              </c:strCache>
            </c:strRef>
          </c:tx>
          <c:spPr>
            <a:solidFill>
              <a:srgbClr val="F4A261"/>
            </a:solidFill>
            <a:effectLst/>
          </c:spPr>
          <c:invertIfNegative val="0"/>
          <c:dLbls>
            <c:numFmt formatCode="$#,##0&quot;K&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Technology</c:v>
                  </c:pt>
                  <c:pt idx="1">
                    <c:v>Office Supplies</c:v>
                  </c:pt>
                  <c:pt idx="2">
                    <c:v>Furniture</c:v>
                  </c:pt>
                </c:lvl>
              </c:multiLvlStrCache>
            </c:multiLvlStrRef>
          </c:cat>
          <c:val>
            <c:numRef>
              <c:f>Sheet1!$C$2:$C$4</c:f>
              <c:numCache>
                <c:formatCode>General</c:formatCode>
                <c:ptCount val="3"/>
                <c:pt idx="0">
                  <c:v>145</c:v>
                </c:pt>
                <c:pt idx="1">
                  <c:v>122</c:v>
                </c:pt>
                <c:pt idx="2">
                  <c:v>18</c:v>
                </c:pt>
              </c:numCache>
            </c:numRef>
          </c:val>
        </c:ser>
        <c:dLbls>
          <c:numFmt formatCode="$#,##0&quot;K&quot;"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9E2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Profit by sub-category ($K)</a:t>
            </a:r>
          </a:p>
        </c:rich>
      </c:tx>
      <c:layout/>
      <c:overlay val="0"/>
    </c:title>
    <c:autoTitleDeleted val="0"/>
    <c:plotArea>
      <c:layout/>
      <c:barChart>
        <c:barDir val="bar"/>
        <c:grouping val="clustered"/>
        <c:varyColors val="0"/>
        <c:ser>
          <c:idx val="0"/>
          <c:order val="0"/>
          <c:tx>
            <c:strRef>
              <c:f>Sheet1!$B$1</c:f>
              <c:strCache>
                <c:ptCount val="1"/>
                <c:pt idx="0">
                  <c:v>Profit ($K)</c:v>
                </c:pt>
              </c:strCache>
            </c:strRef>
          </c:tx>
          <c:spPr>
            <a:solidFill>
              <a:srgbClr val="2A9D8F"/>
            </a:solidFill>
            <a:effectLst/>
          </c:spPr>
          <c:invertIfNegative val="0"/>
          <c:dLbls>
            <c:numFmt formatCode="#,##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2A9D8F"/>
              </a:solidFill>
              <a:effectLst/>
            </c:spPr>
          </c:dPt>
          <c:dPt>
            <c:idx val="2"/>
            <c:invertIfNegative val="0"/>
            <c:bubble3D val="0"/>
            <c:spPr>
              <a:solidFill>
                <a:srgbClr val="2A9D8F"/>
              </a:solidFill>
              <a:effectLst/>
            </c:spPr>
          </c:dPt>
          <c:dPt>
            <c:idx val="3"/>
            <c:invertIfNegative val="0"/>
            <c:bubble3D val="0"/>
            <c:spPr>
              <a:solidFill>
                <a:srgbClr val="2A9D8F"/>
              </a:solidFill>
              <a:effectLst/>
            </c:spPr>
          </c:dPt>
          <c:dPt>
            <c:idx val="4"/>
            <c:invertIfNegative val="0"/>
            <c:bubble3D val="0"/>
            <c:spPr>
              <a:solidFill>
                <a:srgbClr val="2A9D8F"/>
              </a:solidFill>
              <a:effectLst/>
            </c:spPr>
          </c:dPt>
          <c:dPt>
            <c:idx val="5"/>
            <c:invertIfNegative val="0"/>
            <c:bubble3D val="0"/>
            <c:spPr>
              <a:solidFill>
                <a:srgbClr val="2A9D8F"/>
              </a:solidFill>
              <a:effectLst/>
            </c:spPr>
          </c:dPt>
          <c:dPt>
            <c:idx val="6"/>
            <c:invertIfNegative val="0"/>
            <c:bubble3D val="0"/>
            <c:spPr>
              <a:solidFill>
                <a:srgbClr val="2A9D8F"/>
              </a:solidFill>
              <a:effectLst/>
            </c:spPr>
          </c:dPt>
          <c:dPt>
            <c:idx val="7"/>
            <c:invertIfNegative val="0"/>
            <c:bubble3D val="0"/>
            <c:spPr>
              <a:solidFill>
                <a:srgbClr val="2A9D8F"/>
              </a:solidFill>
              <a:effectLst/>
            </c:spPr>
          </c:dPt>
          <c:dPt>
            <c:idx val="8"/>
            <c:invertIfNegative val="0"/>
            <c:bubble3D val="0"/>
            <c:spPr>
              <a:solidFill>
                <a:srgbClr val="2A9D8F"/>
              </a:solidFill>
              <a:effectLst/>
            </c:spPr>
          </c:dPt>
          <c:dPt>
            <c:idx val="9"/>
            <c:invertIfNegative val="0"/>
            <c:bubble3D val="0"/>
            <c:spPr>
              <a:solidFill>
                <a:srgbClr val="2A9D8F"/>
              </a:solidFill>
              <a:effectLst/>
            </c:spPr>
          </c:dPt>
          <c:dPt>
            <c:idx val="10"/>
            <c:invertIfNegative val="0"/>
            <c:bubble3D val="0"/>
            <c:spPr>
              <a:solidFill>
                <a:srgbClr val="2A9D8F"/>
              </a:solidFill>
              <a:effectLst/>
            </c:spPr>
          </c:dPt>
          <c:dPt>
            <c:idx val="11"/>
            <c:invertIfNegative val="0"/>
            <c:bubble3D val="0"/>
            <c:spPr>
              <a:solidFill>
                <a:srgbClr val="2A9D8F"/>
              </a:solidFill>
              <a:effectLst/>
            </c:spPr>
          </c:dPt>
          <c:dPt>
            <c:idx val="12"/>
            <c:invertIfNegative val="0"/>
            <c:bubble3D val="0"/>
            <c:spPr>
              <a:solidFill>
                <a:srgbClr val="2A9D8F"/>
              </a:solidFill>
              <a:effectLst/>
            </c:spPr>
          </c:dPt>
          <c:dPt>
            <c:idx val="13"/>
            <c:invertIfNegative val="0"/>
            <c:bubble3D val="0"/>
            <c:spPr>
              <a:solidFill>
                <a:srgbClr val="2A9D8F"/>
              </a:solidFill>
              <a:effectLst/>
            </c:spPr>
          </c:dPt>
          <c:dPt>
            <c:idx val="14"/>
            <c:invertIfNegative val="0"/>
            <c:bubble3D val="0"/>
            <c:spPr>
              <a:solidFill>
                <a:srgbClr val="E76F51"/>
              </a:solidFill>
              <a:effectLst/>
            </c:spPr>
          </c:dPt>
          <c:dPt>
            <c:idx val="15"/>
            <c:invertIfNegative val="0"/>
            <c:bubble3D val="0"/>
            <c:spPr>
              <a:solidFill>
                <a:srgbClr val="E76F51"/>
              </a:solidFill>
              <a:effectLst/>
            </c:spPr>
          </c:dPt>
          <c:dPt>
            <c:idx val="16"/>
            <c:invertIfNegative val="0"/>
            <c:bubble3D val="0"/>
            <c:spPr>
              <a:solidFill>
                <a:srgbClr val="E76F51"/>
              </a:solidFill>
              <a:effectLst/>
            </c:spPr>
          </c:dPt>
          <c:cat>
            <c:multiLvlStrRef>
              <c:f>Sheet1!$A$2:$A$18</c:f>
              <c:multiLvlStrCache>
                <c:ptCount val="17"/>
                <c:lvl>
                  <c:pt idx="0">
                    <c:v>Copiers</c:v>
                  </c:pt>
                  <c:pt idx="1">
                    <c:v>Phones</c:v>
                  </c:pt>
                  <c:pt idx="2">
                    <c:v>Accessories</c:v>
                  </c:pt>
                  <c:pt idx="3">
                    <c:v>Paper</c:v>
                  </c:pt>
                  <c:pt idx="4">
                    <c:v>Binders</c:v>
                  </c:pt>
                  <c:pt idx="5">
                    <c:v>Chairs</c:v>
                  </c:pt>
                  <c:pt idx="6">
                    <c:v>Storage</c:v>
                  </c:pt>
                  <c:pt idx="7">
                    <c:v>Appliances</c:v>
                  </c:pt>
                  <c:pt idx="8">
                    <c:v>Furnishings</c:v>
                  </c:pt>
                  <c:pt idx="9">
                    <c:v>Envelopes</c:v>
                  </c:pt>
                  <c:pt idx="10">
                    <c:v>Art</c:v>
                  </c:pt>
                  <c:pt idx="11">
                    <c:v>Labels</c:v>
                  </c:pt>
                  <c:pt idx="12">
                    <c:v>Machines</c:v>
                  </c:pt>
                  <c:pt idx="13">
                    <c:v>Fasteners</c:v>
                  </c:pt>
                  <c:pt idx="14">
                    <c:v>Supplies</c:v>
                  </c:pt>
                  <c:pt idx="15">
                    <c:v>Bookcases</c:v>
                  </c:pt>
                  <c:pt idx="16">
                    <c:v>Tables</c:v>
                  </c:pt>
                </c:lvl>
              </c:multiLvlStrCache>
            </c:multiLvlStrRef>
          </c:cat>
          <c:val>
            <c:numRef>
              <c:f>Sheet1!$B$2:$B$18</c:f>
              <c:numCache>
                <c:formatCode>General</c:formatCode>
                <c:ptCount val="17"/>
                <c:pt idx="0">
                  <c:v>55.6</c:v>
                </c:pt>
                <c:pt idx="1">
                  <c:v>44.5</c:v>
                </c:pt>
                <c:pt idx="2">
                  <c:v>41.9</c:v>
                </c:pt>
                <c:pt idx="3">
                  <c:v>34.1</c:v>
                </c:pt>
                <c:pt idx="4">
                  <c:v>30.2</c:v>
                </c:pt>
                <c:pt idx="5">
                  <c:v>26.6</c:v>
                </c:pt>
                <c:pt idx="6">
                  <c:v>21.3</c:v>
                </c:pt>
                <c:pt idx="7">
                  <c:v>18.1</c:v>
                </c:pt>
                <c:pt idx="8">
                  <c:v>13.1</c:v>
                </c:pt>
                <c:pt idx="9">
                  <c:v>7</c:v>
                </c:pt>
                <c:pt idx="10">
                  <c:v>6.5</c:v>
                </c:pt>
                <c:pt idx="11">
                  <c:v>5.5</c:v>
                </c:pt>
                <c:pt idx="12">
                  <c:v>3.4</c:v>
                </c:pt>
                <c:pt idx="13">
                  <c:v>0.9</c:v>
                </c:pt>
                <c:pt idx="14">
                  <c:v>-1.2</c:v>
                </c:pt>
                <c:pt idx="15">
                  <c:v>-3.5</c:v>
                </c:pt>
                <c:pt idx="16">
                  <c:v>-17.7</c:v>
                </c:pt>
              </c:numCache>
            </c:numRef>
          </c:val>
        </c:ser>
        <c:dLbls>
          <c:numFmt formatCode="#,##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E2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Sales and profit by region ($K)</a:t>
            </a:r>
          </a:p>
        </c:rich>
      </c:tx>
      <c:layout/>
      <c:overlay val="0"/>
    </c:title>
    <c:autoTitleDeleted val="0"/>
    <c:plotArea>
      <c:layout/>
      <c:barChart>
        <c:barDir val="col"/>
        <c:grouping val="clustered"/>
        <c:varyColors val="0"/>
        <c:ser>
          <c:idx val="0"/>
          <c:order val="0"/>
          <c:tx>
            <c:strRef>
              <c:f>Sheet1!$B$1</c:f>
              <c:strCache>
                <c:ptCount val="1"/>
                <c:pt idx="0">
                  <c:v>Sales ($K)</c:v>
                </c:pt>
              </c:strCache>
            </c:strRef>
          </c:tx>
          <c:spPr>
            <a:solidFill>
              <a:srgbClr val="2A9D8F"/>
            </a:solidFill>
            <a:effectLst/>
          </c:spPr>
          <c:invertIfNegative val="0"/>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West</c:v>
                  </c:pt>
                  <c:pt idx="1">
                    <c:v>East</c:v>
                  </c:pt>
                  <c:pt idx="2">
                    <c:v>Central</c:v>
                  </c:pt>
                  <c:pt idx="3">
                    <c:v>South</c:v>
                  </c:pt>
                </c:lvl>
              </c:multiLvlStrCache>
            </c:multiLvlStrRef>
          </c:cat>
          <c:val>
            <c:numRef>
              <c:f>Sheet1!$B$2:$B$5</c:f>
              <c:numCache>
                <c:formatCode>General</c:formatCode>
                <c:ptCount val="4"/>
                <c:pt idx="0">
                  <c:v>725</c:v>
                </c:pt>
                <c:pt idx="1">
                  <c:v>679</c:v>
                </c:pt>
                <c:pt idx="2">
                  <c:v>501</c:v>
                </c:pt>
                <c:pt idx="3">
                  <c:v>392</c:v>
                </c:pt>
              </c:numCache>
            </c:numRef>
          </c:val>
        </c:ser>
        <c:ser>
          <c:idx val="1"/>
          <c:order val="1"/>
          <c:tx>
            <c:strRef>
              <c:f>Sheet1!$C$1</c:f>
              <c:strCache>
                <c:ptCount val="1"/>
                <c:pt idx="0">
                  <c:v>Profit ($K)</c:v>
                </c:pt>
              </c:strCache>
            </c:strRef>
          </c:tx>
          <c:spPr>
            <a:solidFill>
              <a:srgbClr val="F4A261"/>
            </a:solidFill>
            <a:effectLst/>
          </c:spPr>
          <c:invertIfNegative val="0"/>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West</c:v>
                  </c:pt>
                  <c:pt idx="1">
                    <c:v>East</c:v>
                  </c:pt>
                  <c:pt idx="2">
                    <c:v>Central</c:v>
                  </c:pt>
                  <c:pt idx="3">
                    <c:v>South</c:v>
                  </c:pt>
                </c:lvl>
              </c:multiLvlStrCache>
            </c:multiLvlStrRef>
          </c:cat>
          <c:val>
            <c:numRef>
              <c:f>Sheet1!$C$2:$C$5</c:f>
              <c:numCache>
                <c:formatCode>General</c:formatCode>
                <c:ptCount val="4"/>
                <c:pt idx="0">
                  <c:v>108</c:v>
                </c:pt>
                <c:pt idx="1">
                  <c:v>92</c:v>
                </c:pt>
                <c:pt idx="2">
                  <c:v>40</c:v>
                </c:pt>
                <c:pt idx="3">
                  <c:v>47</c:v>
                </c:pt>
              </c:numCache>
            </c:numRef>
          </c:val>
        </c:ser>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9E2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Biggest losses by state ($K)</a:t>
            </a:r>
          </a:p>
        </c:rich>
      </c:tx>
      <c:layout/>
      <c:overlay val="0"/>
    </c:title>
    <c:autoTitleDeleted val="0"/>
    <c:plotArea>
      <c:layout/>
      <c:barChart>
        <c:barDir val="bar"/>
        <c:grouping val="clustered"/>
        <c:varyColors val="0"/>
        <c:ser>
          <c:idx val="0"/>
          <c:order val="0"/>
          <c:tx>
            <c:strRef>
              <c:f>Sheet1!$B$1</c:f>
              <c:strCache>
                <c:ptCount val="1"/>
                <c:pt idx="0">
                  <c:v>Loss ($K)</c:v>
                </c:pt>
              </c:strCache>
            </c:strRef>
          </c:tx>
          <c:spPr>
            <a:solidFill>
              <a:srgbClr val="E76F51"/>
            </a:solidFill>
            <a:effectLst/>
          </c:spPr>
          <c:invertIfNegative val="0"/>
          <c:dLbls>
            <c:numFmt formatCode="#,##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Texas</c:v>
                  </c:pt>
                  <c:pt idx="1">
                    <c:v>Ohio</c:v>
                  </c:pt>
                  <c:pt idx="2">
                    <c:v>Pennsylvania</c:v>
                  </c:pt>
                  <c:pt idx="3">
                    <c:v>Illinois</c:v>
                  </c:pt>
                </c:lvl>
              </c:multiLvlStrCache>
            </c:multiLvlStrRef>
          </c:cat>
          <c:val>
            <c:numRef>
              <c:f>Sheet1!$B$2:$B$5</c:f>
              <c:numCache>
                <c:formatCode>General</c:formatCode>
                <c:ptCount val="4"/>
                <c:pt idx="0">
                  <c:v>25.7</c:v>
                </c:pt>
                <c:pt idx="1">
                  <c:v>17</c:v>
                </c:pt>
                <c:pt idx="2">
                  <c:v>15.6</c:v>
                </c:pt>
                <c:pt idx="3">
                  <c:v>12.6</c:v>
                </c:pt>
              </c:numCache>
            </c:numRef>
          </c:val>
        </c:ser>
        <c:dLbls>
          <c:numFmt formatCode="#,##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9E2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Sales by customer segment</a:t>
            </a:r>
          </a:p>
        </c:rich>
      </c:tx>
      <c:layout/>
      <c:overlay val="0"/>
    </c:title>
    <c:autoTitleDeleted val="0"/>
    <c:plotArea>
      <c:layout/>
      <c:doughnutChart>
        <c:varyColors val="1"/>
        <c:ser>
          <c:idx val="0"/>
          <c:order val="0"/>
          <c:tx>
            <c:strRef>
              <c:f>Sheet1!$B$1</c:f>
              <c:strCache>
                <c:ptCount val="1"/>
                <c:pt idx="0">
                  <c:v>Sales</c:v>
                </c:pt>
              </c:strCache>
            </c:strRef>
          </c:tx>
          <c:spPr>
            <a:solidFill>
              <a:schemeClr val="accent1"/>
            </a:solidFill>
            <a:ln w="9525" cap="flat">
              <a:solidFill>
                <a:srgbClr val="F9F9F9"/>
              </a:solidFill>
              <a:prstDash val="solid"/>
              <a:round/>
            </a:ln>
            <a:effectLst/>
          </c:spPr>
          <c:dPt>
            <c:idx val="0"/>
            <c:bubble3D val="0"/>
            <c:spPr>
              <a:solidFill>
                <a:srgbClr val="2A9D8F"/>
              </a:solidFill>
              <a:effectLst/>
            </c:spPr>
          </c:dPt>
          <c:dPt>
            <c:idx val="1"/>
            <c:bubble3D val="0"/>
            <c:spPr>
              <a:solidFill>
                <a:srgbClr val="14213D"/>
              </a:solidFill>
              <a:effectLst/>
            </c:spPr>
          </c:dPt>
          <c:dPt>
            <c:idx val="2"/>
            <c:bubble3D val="0"/>
            <c:spPr>
              <a:solidFill>
                <a:srgbClr val="3599B8"/>
              </a:solidFill>
              <a:effectLst/>
            </c:spPr>
          </c:dPt>
          <c:dLbls>
            <c:dLbl>
              <c:idx val="0"/>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4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Consumer</c:v>
                </c:pt>
                <c:pt idx="1">
                  <c:v>Corporate</c:v>
                </c:pt>
                <c:pt idx="2">
                  <c:v>Home Office</c:v>
                </c:pt>
              </c:strCache>
            </c:strRef>
          </c:cat>
          <c:val>
            <c:numRef>
              <c:f>Sheet1!$B$2:$B$4</c:f>
              <c:numCache>
                <c:ptCount val="3"/>
                <c:pt idx="0">
                  <c:v>1161401</c:v>
                </c:pt>
                <c:pt idx="1">
                  <c:v>706146</c:v>
                </c:pt>
                <c:pt idx="2">
                  <c:v>429653</c:v>
                </c:pt>
              </c:numCache>
            </c:numRef>
          </c:val>
        </c:ser>
        <c:firstSliceAng val="0"/>
        <c:holeSize val="55"/>
      </c:doughnutChart>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Profit margin by discount level</a:t>
            </a:r>
          </a:p>
        </c:rich>
      </c:tx>
      <c:layout/>
      <c:overlay val="0"/>
    </c:title>
    <c:autoTitleDeleted val="0"/>
    <c:plotArea>
      <c:layout/>
      <c:barChart>
        <c:barDir val="col"/>
        <c:grouping val="clustered"/>
        <c:varyColors val="0"/>
        <c:ser>
          <c:idx val="0"/>
          <c:order val="0"/>
          <c:tx>
            <c:strRef>
              <c:f>Sheet1!$B$1</c:f>
              <c:strCache>
                <c:ptCount val="1"/>
                <c:pt idx="0">
                  <c:v>Profit margin</c:v>
                </c:pt>
              </c:strCache>
            </c:strRef>
          </c:tx>
          <c:spPr>
            <a:solidFill>
              <a:srgbClr val="2A9D8F"/>
            </a:solidFill>
            <a:effectLst/>
          </c:spPr>
          <c:invertIfNegative val="0"/>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2A9D8F"/>
              </a:solidFill>
              <a:effectLst/>
            </c:spPr>
          </c:dPt>
          <c:dPt>
            <c:idx val="2"/>
            <c:invertIfNegative val="0"/>
            <c:bubble3D val="0"/>
            <c:spPr>
              <a:solidFill>
                <a:srgbClr val="2A9D8F"/>
              </a:solidFill>
              <a:effectLst/>
            </c:spPr>
          </c:dPt>
          <c:dPt>
            <c:idx val="3"/>
            <c:invertIfNegative val="0"/>
            <c:bubble3D val="0"/>
            <c:spPr>
              <a:solidFill>
                <a:srgbClr val="E76F51"/>
              </a:solidFill>
              <a:effectLst/>
            </c:spPr>
          </c:dPt>
          <c:dPt>
            <c:idx val="4"/>
            <c:invertIfNegative val="0"/>
            <c:bubble3D val="0"/>
            <c:spPr>
              <a:solidFill>
                <a:srgbClr val="E76F51"/>
              </a:solidFill>
              <a:effectLst/>
            </c:spPr>
          </c:dPt>
          <c:dPt>
            <c:idx val="5"/>
            <c:invertIfNegative val="0"/>
            <c:bubble3D val="0"/>
            <c:spPr>
              <a:solidFill>
                <a:srgbClr val="E76F51"/>
              </a:solidFill>
              <a:effectLst/>
            </c:spPr>
          </c:dPt>
          <c:cat>
            <c:multiLvlStrRef>
              <c:f>Sheet1!$A$2:$A$7</c:f>
              <c:multiLvlStrCache>
                <c:ptCount val="6"/>
                <c:lvl>
                  <c:pt idx="0">
                    <c:v>No discount</c:v>
                  </c:pt>
                  <c:pt idx="1">
                    <c:v>Up to 10%</c:v>
                  </c:pt>
                  <c:pt idx="2">
                    <c:v>10–20%</c:v>
                  </c:pt>
                  <c:pt idx="3">
                    <c:v>20–30%</c:v>
                  </c:pt>
                  <c:pt idx="4">
                    <c:v>30–50%</c:v>
                  </c:pt>
                  <c:pt idx="5">
                    <c:v>Above 50%</c:v>
                  </c:pt>
                </c:lvl>
              </c:multiLvlStrCache>
            </c:multiLvlStrRef>
          </c:cat>
          <c:val>
            <c:numRef>
              <c:f>Sheet1!$B$2:$B$7</c:f>
              <c:numCache>
                <c:formatCode>General</c:formatCode>
                <c:ptCount val="6"/>
                <c:pt idx="0">
                  <c:v>0.295</c:v>
                </c:pt>
                <c:pt idx="1">
                  <c:v>0.166</c:v>
                </c:pt>
                <c:pt idx="2">
                  <c:v>0.116</c:v>
                </c:pt>
                <c:pt idx="3">
                  <c:v>-0.1</c:v>
                </c:pt>
                <c:pt idx="4">
                  <c:v>-0.248</c:v>
                </c:pt>
                <c:pt idx="5">
                  <c:v>-1.192</c:v>
                </c:pt>
              </c:numCache>
            </c:numRef>
          </c:val>
        </c:ser>
        <c:dLbls>
          <c:numFmt formatCode="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9E2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Today I will walk you through my Superstore sales analysis. I built an interactive dashboard in Power BI using four years of order data, from 2014 to 2017. In the next few minutes I will show what is going well, where the business is losing money, and what we can do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big picture. Total sales are about 2.3 million dollars and total profit is about 286 thousand dollars, so the profit margin is 12.5 percent. We had around 5,000 orders from 793 customers. At the bottom are my three main findings: Furniture earns very little profit, heavy discounts create losses, and the Central region plus a few states are weak. I will explain each one with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sales and profit for each year. Both are clearly growing. Sales went up by about 51 percent from 2014 to 2017, and profit grew even faster at about 89 percent, so the margin also improved. The only small dip was in 2015. This is the good news slide: the business is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adds up all four years by month. You can see a clear festive-season pattern. September, November and December together bring about 43 percent of yearly sales. February is the weakest month. So the business should plan stock, staff and offers before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compare the three categories. Technology has the highest sales and about 17 percent margin. Office Supplies also earns around 17 percent. But Furniture, which has almost the same sales as Technology, earns only about 2.5 percent margin. So Furniture sells well but most of the money is lost in discounts and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inside the categories, we can see exactly where the losses are. Copiers, Phones and Accessories make good profit. But Tables, Bookcases and Supplies are in the red. Tables are the biggest problem: they lose about 17.7 thousand dollars, and they are discounted by around 26 percent on average. This explains why Furniture has such a low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you can see the four regions. West and East are strong. Central has decent sales but very low profit. The reason is discounts: Central gives about 24 percent on average, while the West gives only about 11 percent. On the right are the five states with the biggest losses. Texas is the worst with about 25.7 thousand dollars lost, followed by Ohio, Pennsylvania and Illinois.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our customers. Half of all sales come from the Consumer segment, then Corporate, then Home Office. On the right are the top five customers by sales. Notice something interesting: Sean Miller is number one in sales, but we actually lose money on his orders. This shows that a big customer is not always a profitable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 grouped every order line by the discount given. With no discount, the profit margin is about 30 percent. Up to 20 percent discount, we are still profitable. But once the discount goes above 20 percent, the margin turns negative, and above 50 percent we lose more than one dollar for every dollar of sales. Overall, those heavily discounted orders lost about 135 thousand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analysis, I suggest four actions. First, cap discounts at 20 percent. Second, review the prices of Tables, Bookcases and Supplies. Third, reduce discounts in the Central region and look into the four loss-making states. Fourth, keep growing Technology and Office Supplies and get ready for the September to December rush. If we do these, profit can improve without needing more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my analysis. To summarise: the business is growing, but discounts and a few weak products and regions are holding profit back. Thank you for listening.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786384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822960" y="3520440"/>
            <a:ext cx="77724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1"/>
                </a:solidFill>
              </a:rPr>
              <a:t>Superstore Sales Analysis  |  2014 to 2017</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large"/>
          <p:cNvSpPr/>
          <p:nvPr/>
        </p:nvSpPr>
        <p:spPr>
          <a:xfrm>
            <a:off x="8778240" y="822960"/>
            <a:ext cx="4389120" cy="4389120"/>
          </a:xfrm>
          <a:prstGeom prst="ellipse">
            <a:avLst/>
          </a:prstGeom>
          <a:solidFill>
            <a:schemeClr val="accent1">
              <a:alpha val="30000"/>
            </a:schemeClr>
          </a:solidFill>
          <a:ln/>
        </p:spPr>
      </p:sp>
      <p:sp>
        <p:nvSpPr>
          <p:cNvPr id="3" name="Decor circle small"/>
          <p:cNvSpPr/>
          <p:nvPr/>
        </p:nvSpPr>
        <p:spPr>
          <a:xfrm>
            <a:off x="9966960" y="4023360"/>
            <a:ext cx="2377440" cy="2377440"/>
          </a:xfrm>
          <a:prstGeom prst="ellipse">
            <a:avLst/>
          </a:prstGeom>
          <a:solidFill>
            <a:schemeClr val="accent2">
              <a:alpha val="40000"/>
            </a:schemeClr>
          </a:solidFill>
          <a:ln/>
        </p:spPr>
      </p:sp>
      <p:sp>
        <p:nvSpPr>
          <p:cNvPr id="4" name="Text 0"/>
          <p:cNvSpPr/>
          <p:nvPr>
            <p:ph idx="100" type="title" hasCustomPrompt="1"/>
          </p:nvPr>
        </p:nvSpPr>
        <p:spPr>
          <a:xfrm>
            <a:off x="822960" y="2011680"/>
            <a:ext cx="7863840" cy="1371600"/>
          </a:xfrm>
          <a:prstGeom prst="rect">
            <a:avLst/>
          </a:prstGeom>
          <a:noFill/>
          <a:ln/>
        </p:spPr>
        <p:txBody>
          <a:bodyPr wrap="square" lIns="0" tIns="0" rIns="0" bIns="0" rtlCol="0" anchor="b"/>
          <a:lstStyle/>
          <a:p>
            <a:pPr algn="l" indent="0" marL="0">
              <a:buNone/>
            </a:pPr>
            <a:r>
              <a:rPr lang="en-US" sz="4800" b="1" dirty="0">
                <a:solidFill>
                  <a:schemeClr val="bg1"/>
                </a:solidFill>
              </a:rPr>
              <a:t>Superstore Sales Analysis</a:t>
            </a:r>
            <a:endParaRPr lang="en-US" sz="4800" dirty="0"/>
          </a:p>
        </p:txBody>
      </p:sp>
      <p:sp>
        <p:nvSpPr>
          <p:cNvPr id="5" name="Text 0"/>
          <p:cNvSpPr/>
          <p:nvPr>
            <p:ph idx="101" type="body" hasCustomPrompt="1"/>
          </p:nvPr>
        </p:nvSpPr>
        <p:spPr>
          <a:xfrm>
            <a:off x="822960" y="3520440"/>
            <a:ext cx="7772400" cy="914400"/>
          </a:xfrm>
          <a:prstGeom prst="rect">
            <a:avLst/>
          </a:prstGeom>
          <a:noFill/>
          <a:ln/>
        </p:spPr>
        <p:txBody>
          <a:bodyPr wrap="square" lIns="0" tIns="0" rIns="0" bIns="0" rtlCol="0" anchor="t"/>
          <a:lstStyle/>
          <a:p>
            <a:pPr indent="0" marL="0">
              <a:buNone/>
            </a:pPr>
            <a:r>
              <a:rPr lang="en-US" sz="2200" dirty="0">
                <a:solidFill>
                  <a:schemeClr val="bg2"/>
                </a:solidFill>
              </a:rPr>
              <a:t>Sales, profit and discount performance, 2014 to 2017</a:t>
            </a:r>
            <a:endParaRPr lang="en-US" sz="2200" dirty="0"/>
          </a:p>
        </p:txBody>
      </p:sp>
      <p:sp>
        <p:nvSpPr>
          <p:cNvPr id="6" name="Presenter"/>
          <p:cNvSpPr txBox="1"/>
          <p:nvPr/>
        </p:nvSpPr>
        <p:spPr>
          <a:xfrm>
            <a:off x="822960" y="5760720"/>
            <a:ext cx="7315200" cy="365760"/>
          </a:xfrm>
          <a:prstGeom prst="rect">
            <a:avLst/>
          </a:prstGeom>
          <a:noFill/>
          <a:ln/>
        </p:spPr>
        <p:txBody>
          <a:bodyPr wrap="square" lIns="0" tIns="0" rIns="0" bIns="0" rtlCol="0" anchor="ctr"/>
          <a:lstStyle/>
          <a:p>
            <a:pPr indent="0" marL="0">
              <a:buNone/>
            </a:pPr>
            <a:r>
              <a:rPr lang="en-US" sz="1600" dirty="0">
                <a:solidFill>
                  <a:schemeClr val="bg2"/>
                </a:solidFill>
              </a:rPr>
              <a:t>Presented by Pari Singhal  |  Built with Power BI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The business at a glance</a:t>
            </a:r>
            <a:endParaRPr lang="en-US" sz="3400" dirty="0"/>
          </a:p>
        </p:txBody>
      </p:sp>
      <p:sp>
        <p:nvSpPr>
          <p:cNvPr id="3" name="KPI card 1"/>
          <p:cNvSpPr/>
          <p:nvPr/>
        </p:nvSpPr>
        <p:spPr>
          <a:xfrm>
            <a:off x="548640" y="1463040"/>
            <a:ext cx="256032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4" name="KPI icon bg 1"/>
          <p:cNvSpPr/>
          <p:nvPr/>
        </p:nvSpPr>
        <p:spPr>
          <a:xfrm>
            <a:off x="822960" y="1737360"/>
            <a:ext cx="640080" cy="640080"/>
          </a:xfrm>
          <a:prstGeom prst="ellipse">
            <a:avLst/>
          </a:prstGeom>
          <a:solidFill>
            <a:schemeClr val="accent1"/>
          </a:solidFill>
          <a:ln/>
        </p:spPr>
      </p:sp>
      <p:pic>
        <p:nvPicPr>
          <p:cNvPr id="5" name="Image 0" descr="Total sales icon">    </p:cNvPr>
          <p:cNvPicPr>
            <a:picLocks noChangeAspect="1"/>
          </p:cNvPicPr>
          <p:nvPr/>
        </p:nvPicPr>
        <p:blipFill>
          <a:blip r:embed="rId1"/>
          <a:stretch>
            <a:fillRect/>
          </a:stretch>
        </p:blipFill>
        <p:spPr>
          <a:xfrm>
            <a:off x="978408" y="1892808"/>
            <a:ext cx="329184" cy="329184"/>
          </a:xfrm>
          <a:prstGeom prst="rect">
            <a:avLst/>
          </a:prstGeom>
        </p:spPr>
      </p:pic>
      <p:sp>
        <p:nvSpPr>
          <p:cNvPr id="6" name="KPI value 1"/>
          <p:cNvSpPr txBox="1"/>
          <p:nvPr/>
        </p:nvSpPr>
        <p:spPr>
          <a:xfrm>
            <a:off x="822960" y="2423160"/>
            <a:ext cx="2103120" cy="594360"/>
          </a:xfrm>
          <a:prstGeom prst="rect">
            <a:avLst/>
          </a:prstGeom>
          <a:noFill/>
          <a:ln/>
        </p:spPr>
        <p:txBody>
          <a:bodyPr wrap="square" lIns="0" tIns="0" rIns="0" bIns="0" rtlCol="0" anchor="ctr"/>
          <a:lstStyle/>
          <a:p>
            <a:pPr indent="0" marL="0">
              <a:buNone/>
            </a:pPr>
            <a:r>
              <a:rPr lang="en-US" sz="3600" b="1" dirty="0">
                <a:solidFill>
                  <a:schemeClr val="tx2"/>
                </a:solidFill>
              </a:rPr>
              <a:t>$2.30M</a:t>
            </a:r>
            <a:endParaRPr lang="en-US" sz="3600" dirty="0"/>
          </a:p>
        </p:txBody>
      </p:sp>
      <p:sp>
        <p:nvSpPr>
          <p:cNvPr id="7" name="KPI label 1"/>
          <p:cNvSpPr txBox="1"/>
          <p:nvPr/>
        </p:nvSpPr>
        <p:spPr>
          <a:xfrm>
            <a:off x="822960" y="3017520"/>
            <a:ext cx="2103120" cy="365760"/>
          </a:xfrm>
          <a:prstGeom prst="rect">
            <a:avLst/>
          </a:prstGeom>
          <a:noFill/>
          <a:ln/>
        </p:spPr>
        <p:txBody>
          <a:bodyPr wrap="square" lIns="0" tIns="0" rIns="0" bIns="0" rtlCol="0" anchor="t"/>
          <a:lstStyle/>
          <a:p>
            <a:pPr indent="0" marL="0">
              <a:buNone/>
            </a:pPr>
            <a:r>
              <a:rPr lang="en-US" sz="1400" dirty="0">
                <a:solidFill>
                  <a:schemeClr val="tx1"/>
                </a:solidFill>
              </a:rPr>
              <a:t>Total sales</a:t>
            </a:r>
            <a:endParaRPr lang="en-US" sz="1400" dirty="0"/>
          </a:p>
        </p:txBody>
      </p:sp>
      <p:sp>
        <p:nvSpPr>
          <p:cNvPr id="8" name="KPI card 2"/>
          <p:cNvSpPr/>
          <p:nvPr/>
        </p:nvSpPr>
        <p:spPr>
          <a:xfrm>
            <a:off x="3392424" y="1463040"/>
            <a:ext cx="256032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9" name="KPI icon bg 2"/>
          <p:cNvSpPr/>
          <p:nvPr/>
        </p:nvSpPr>
        <p:spPr>
          <a:xfrm>
            <a:off x="3666744" y="1737360"/>
            <a:ext cx="640080" cy="640080"/>
          </a:xfrm>
          <a:prstGeom prst="ellipse">
            <a:avLst/>
          </a:prstGeom>
          <a:solidFill>
            <a:schemeClr val="accent1"/>
          </a:solidFill>
          <a:ln/>
        </p:spPr>
      </p:sp>
      <p:pic>
        <p:nvPicPr>
          <p:cNvPr id="10" name="Image 1" descr="Total profit icon">    </p:cNvPr>
          <p:cNvPicPr>
            <a:picLocks noChangeAspect="1"/>
          </p:cNvPicPr>
          <p:nvPr/>
        </p:nvPicPr>
        <p:blipFill>
          <a:blip r:embed="rId2"/>
          <a:stretch>
            <a:fillRect/>
          </a:stretch>
        </p:blipFill>
        <p:spPr>
          <a:xfrm>
            <a:off x="3822192" y="1892808"/>
            <a:ext cx="329184" cy="329184"/>
          </a:xfrm>
          <a:prstGeom prst="rect">
            <a:avLst/>
          </a:prstGeom>
        </p:spPr>
      </p:pic>
      <p:sp>
        <p:nvSpPr>
          <p:cNvPr id="11" name="KPI value 2"/>
          <p:cNvSpPr txBox="1"/>
          <p:nvPr/>
        </p:nvSpPr>
        <p:spPr>
          <a:xfrm>
            <a:off x="3666744" y="2423160"/>
            <a:ext cx="2103120" cy="594360"/>
          </a:xfrm>
          <a:prstGeom prst="rect">
            <a:avLst/>
          </a:prstGeom>
          <a:noFill/>
          <a:ln/>
        </p:spPr>
        <p:txBody>
          <a:bodyPr wrap="square" lIns="0" tIns="0" rIns="0" bIns="0" rtlCol="0" anchor="ctr"/>
          <a:lstStyle/>
          <a:p>
            <a:pPr indent="0" marL="0">
              <a:buNone/>
            </a:pPr>
            <a:r>
              <a:rPr lang="en-US" sz="3600" b="1" dirty="0">
                <a:solidFill>
                  <a:schemeClr val="tx2"/>
                </a:solidFill>
              </a:rPr>
              <a:t>$286.4K</a:t>
            </a:r>
            <a:endParaRPr lang="en-US" sz="3600" dirty="0"/>
          </a:p>
        </p:txBody>
      </p:sp>
      <p:sp>
        <p:nvSpPr>
          <p:cNvPr id="12" name="KPI label 2"/>
          <p:cNvSpPr txBox="1"/>
          <p:nvPr/>
        </p:nvSpPr>
        <p:spPr>
          <a:xfrm>
            <a:off x="3666744" y="3017520"/>
            <a:ext cx="2103120" cy="365760"/>
          </a:xfrm>
          <a:prstGeom prst="rect">
            <a:avLst/>
          </a:prstGeom>
          <a:noFill/>
          <a:ln/>
        </p:spPr>
        <p:txBody>
          <a:bodyPr wrap="square" lIns="0" tIns="0" rIns="0" bIns="0" rtlCol="0" anchor="t"/>
          <a:lstStyle/>
          <a:p>
            <a:pPr indent="0" marL="0">
              <a:buNone/>
            </a:pPr>
            <a:r>
              <a:rPr lang="en-US" sz="1400" dirty="0">
                <a:solidFill>
                  <a:schemeClr val="tx1"/>
                </a:solidFill>
              </a:rPr>
              <a:t>Total profit</a:t>
            </a:r>
            <a:endParaRPr lang="en-US" sz="1400" dirty="0"/>
          </a:p>
        </p:txBody>
      </p:sp>
      <p:sp>
        <p:nvSpPr>
          <p:cNvPr id="13" name="KPI card 3"/>
          <p:cNvSpPr/>
          <p:nvPr/>
        </p:nvSpPr>
        <p:spPr>
          <a:xfrm>
            <a:off x="6236208" y="1463040"/>
            <a:ext cx="256032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4" name="KPI icon bg 3"/>
          <p:cNvSpPr/>
          <p:nvPr/>
        </p:nvSpPr>
        <p:spPr>
          <a:xfrm>
            <a:off x="6510528" y="1737360"/>
            <a:ext cx="640080" cy="640080"/>
          </a:xfrm>
          <a:prstGeom prst="ellipse">
            <a:avLst/>
          </a:prstGeom>
          <a:solidFill>
            <a:schemeClr val="accent1"/>
          </a:solidFill>
          <a:ln/>
        </p:spPr>
      </p:sp>
      <p:pic>
        <p:nvPicPr>
          <p:cNvPr id="15" name="Image 2" descr="Profit margin icon">    </p:cNvPr>
          <p:cNvPicPr>
            <a:picLocks noChangeAspect="1"/>
          </p:cNvPicPr>
          <p:nvPr/>
        </p:nvPicPr>
        <p:blipFill>
          <a:blip r:embed="rId3"/>
          <a:stretch>
            <a:fillRect/>
          </a:stretch>
        </p:blipFill>
        <p:spPr>
          <a:xfrm>
            <a:off x="6665976" y="1892808"/>
            <a:ext cx="329184" cy="329184"/>
          </a:xfrm>
          <a:prstGeom prst="rect">
            <a:avLst/>
          </a:prstGeom>
        </p:spPr>
      </p:pic>
      <p:sp>
        <p:nvSpPr>
          <p:cNvPr id="16" name="KPI value 3"/>
          <p:cNvSpPr txBox="1"/>
          <p:nvPr/>
        </p:nvSpPr>
        <p:spPr>
          <a:xfrm>
            <a:off x="6510528" y="2423160"/>
            <a:ext cx="2103120" cy="594360"/>
          </a:xfrm>
          <a:prstGeom prst="rect">
            <a:avLst/>
          </a:prstGeom>
          <a:noFill/>
          <a:ln/>
        </p:spPr>
        <p:txBody>
          <a:bodyPr wrap="square" lIns="0" tIns="0" rIns="0" bIns="0" rtlCol="0" anchor="ctr"/>
          <a:lstStyle/>
          <a:p>
            <a:pPr indent="0" marL="0">
              <a:buNone/>
            </a:pPr>
            <a:r>
              <a:rPr lang="en-US" sz="3600" b="1" dirty="0">
                <a:solidFill>
                  <a:schemeClr val="tx2"/>
                </a:solidFill>
              </a:rPr>
              <a:t>12.5%</a:t>
            </a:r>
            <a:endParaRPr lang="en-US" sz="3600" dirty="0"/>
          </a:p>
        </p:txBody>
      </p:sp>
      <p:sp>
        <p:nvSpPr>
          <p:cNvPr id="17" name="KPI label 3"/>
          <p:cNvSpPr txBox="1"/>
          <p:nvPr/>
        </p:nvSpPr>
        <p:spPr>
          <a:xfrm>
            <a:off x="6510528" y="3017520"/>
            <a:ext cx="2103120" cy="365760"/>
          </a:xfrm>
          <a:prstGeom prst="rect">
            <a:avLst/>
          </a:prstGeom>
          <a:noFill/>
          <a:ln/>
        </p:spPr>
        <p:txBody>
          <a:bodyPr wrap="square" lIns="0" tIns="0" rIns="0" bIns="0" rtlCol="0" anchor="t"/>
          <a:lstStyle/>
          <a:p>
            <a:pPr indent="0" marL="0">
              <a:buNone/>
            </a:pPr>
            <a:r>
              <a:rPr lang="en-US" sz="1400" dirty="0">
                <a:solidFill>
                  <a:schemeClr val="tx1"/>
                </a:solidFill>
              </a:rPr>
              <a:t>Profit margin</a:t>
            </a:r>
            <a:endParaRPr lang="en-US" sz="1400" dirty="0"/>
          </a:p>
        </p:txBody>
      </p:sp>
      <p:sp>
        <p:nvSpPr>
          <p:cNvPr id="18" name="KPI card 4"/>
          <p:cNvSpPr/>
          <p:nvPr/>
        </p:nvSpPr>
        <p:spPr>
          <a:xfrm>
            <a:off x="9079992" y="1463040"/>
            <a:ext cx="2560320"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9" name="KPI icon bg 4"/>
          <p:cNvSpPr/>
          <p:nvPr/>
        </p:nvSpPr>
        <p:spPr>
          <a:xfrm>
            <a:off x="9354312" y="1737360"/>
            <a:ext cx="640080" cy="640080"/>
          </a:xfrm>
          <a:prstGeom prst="ellipse">
            <a:avLst/>
          </a:prstGeom>
          <a:solidFill>
            <a:schemeClr val="accent1"/>
          </a:solidFill>
          <a:ln/>
        </p:spPr>
      </p:sp>
      <p:pic>
        <p:nvPicPr>
          <p:cNvPr id="20" name="Image 3" descr="Orders from 793 customers icon">    </p:cNvPr>
          <p:cNvPicPr>
            <a:picLocks noChangeAspect="1"/>
          </p:cNvPicPr>
          <p:nvPr/>
        </p:nvPicPr>
        <p:blipFill>
          <a:blip r:embed="rId4"/>
          <a:stretch>
            <a:fillRect/>
          </a:stretch>
        </p:blipFill>
        <p:spPr>
          <a:xfrm>
            <a:off x="9509760" y="1892808"/>
            <a:ext cx="329184" cy="329184"/>
          </a:xfrm>
          <a:prstGeom prst="rect">
            <a:avLst/>
          </a:prstGeom>
        </p:spPr>
      </p:pic>
      <p:sp>
        <p:nvSpPr>
          <p:cNvPr id="21" name="KPI value 4"/>
          <p:cNvSpPr txBox="1"/>
          <p:nvPr/>
        </p:nvSpPr>
        <p:spPr>
          <a:xfrm>
            <a:off x="9354312" y="2423160"/>
            <a:ext cx="2103120" cy="594360"/>
          </a:xfrm>
          <a:prstGeom prst="rect">
            <a:avLst/>
          </a:prstGeom>
          <a:noFill/>
          <a:ln/>
        </p:spPr>
        <p:txBody>
          <a:bodyPr wrap="square" lIns="0" tIns="0" rIns="0" bIns="0" rtlCol="0" anchor="ctr"/>
          <a:lstStyle/>
          <a:p>
            <a:pPr indent="0" marL="0">
              <a:buNone/>
            </a:pPr>
            <a:r>
              <a:rPr lang="en-US" sz="3600" b="1" dirty="0">
                <a:solidFill>
                  <a:schemeClr val="tx2"/>
                </a:solidFill>
              </a:rPr>
              <a:t>5,009</a:t>
            </a:r>
            <a:endParaRPr lang="en-US" sz="3600" dirty="0"/>
          </a:p>
        </p:txBody>
      </p:sp>
      <p:sp>
        <p:nvSpPr>
          <p:cNvPr id="22" name="KPI label 4"/>
          <p:cNvSpPr txBox="1"/>
          <p:nvPr/>
        </p:nvSpPr>
        <p:spPr>
          <a:xfrm>
            <a:off x="9354312" y="3017520"/>
            <a:ext cx="2103120" cy="365760"/>
          </a:xfrm>
          <a:prstGeom prst="rect">
            <a:avLst/>
          </a:prstGeom>
          <a:noFill/>
          <a:ln/>
        </p:spPr>
        <p:txBody>
          <a:bodyPr wrap="square" lIns="0" tIns="0" rIns="0" bIns="0" rtlCol="0" anchor="t"/>
          <a:lstStyle/>
          <a:p>
            <a:pPr indent="0" marL="0">
              <a:buNone/>
            </a:pPr>
            <a:r>
              <a:rPr lang="en-US" sz="1400" dirty="0">
                <a:solidFill>
                  <a:schemeClr val="tx1"/>
                </a:solidFill>
              </a:rPr>
              <a:t>Orders from 793 customers</a:t>
            </a:r>
            <a:endParaRPr lang="en-US" sz="1400" dirty="0"/>
          </a:p>
        </p:txBody>
      </p:sp>
      <p:sp>
        <p:nvSpPr>
          <p:cNvPr id="23" name="Findings header"/>
          <p:cNvSpPr txBox="1"/>
          <p:nvPr/>
        </p:nvSpPr>
        <p:spPr>
          <a:xfrm>
            <a:off x="548640" y="3931920"/>
            <a:ext cx="5486400" cy="411480"/>
          </a:xfrm>
          <a:prstGeom prst="rect">
            <a:avLst/>
          </a:prstGeom>
          <a:noFill/>
          <a:ln/>
        </p:spPr>
        <p:txBody>
          <a:bodyPr wrap="square" lIns="0" tIns="0" rIns="0" bIns="0" rtlCol="0" anchor="ctr"/>
          <a:lstStyle/>
          <a:p>
            <a:pPr indent="0" marL="0">
              <a:buNone/>
            </a:pPr>
            <a:r>
              <a:rPr lang="en-US" sz="2200" b="1" dirty="0">
                <a:solidFill>
                  <a:schemeClr val="tx2"/>
                </a:solidFill>
              </a:rPr>
              <a:t>What the data tells us</a:t>
            </a:r>
            <a:endParaRPr lang="en-US" sz="2200" dirty="0"/>
          </a:p>
        </p:txBody>
      </p:sp>
      <p:sp>
        <p:nvSpPr>
          <p:cNvPr id="24" name="Finding number bg 1"/>
          <p:cNvSpPr/>
          <p:nvPr/>
        </p:nvSpPr>
        <p:spPr>
          <a:xfrm>
            <a:off x="548640" y="4572000"/>
            <a:ext cx="457200" cy="457200"/>
          </a:xfrm>
          <a:prstGeom prst="ellipse">
            <a:avLst/>
          </a:prstGeom>
          <a:solidFill>
            <a:schemeClr val="accent1"/>
          </a:solidFill>
          <a:ln/>
        </p:spPr>
      </p:sp>
      <p:sp>
        <p:nvSpPr>
          <p:cNvPr id="25" name="Finding number 1"/>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6" name="Finding 1"/>
          <p:cNvSpPr txBox="1"/>
          <p:nvPr/>
        </p:nvSpPr>
        <p:spPr>
          <a:xfrm>
            <a:off x="1143000" y="4526280"/>
            <a:ext cx="2880360" cy="1554480"/>
          </a:xfrm>
          <a:prstGeom prst="rect">
            <a:avLst/>
          </a:prstGeom>
          <a:noFill/>
          <a:ln/>
        </p:spPr>
        <p:txBody>
          <a:bodyPr wrap="square" lIns="0" tIns="0" rIns="0" bIns="0" rtlCol="0" anchor="t"/>
          <a:lstStyle/>
          <a:p>
            <a:pPr indent="0" marL="0">
              <a:buNone/>
            </a:pPr>
            <a:r>
              <a:rPr lang="en-US" sz="1800" dirty="0">
                <a:solidFill>
                  <a:schemeClr val="tx1"/>
                </a:solidFill>
              </a:rPr>
              <a:t>Technology and Office Supplies earn about 17% margin. Furniture earns only 2.5%.</a:t>
            </a:r>
            <a:endParaRPr lang="en-US" sz="1800" dirty="0"/>
          </a:p>
        </p:txBody>
      </p:sp>
      <p:sp>
        <p:nvSpPr>
          <p:cNvPr id="27" name="Finding number bg 2"/>
          <p:cNvSpPr/>
          <p:nvPr/>
        </p:nvSpPr>
        <p:spPr>
          <a:xfrm>
            <a:off x="4297680" y="4572000"/>
            <a:ext cx="457200" cy="457200"/>
          </a:xfrm>
          <a:prstGeom prst="ellipse">
            <a:avLst/>
          </a:prstGeom>
          <a:solidFill>
            <a:schemeClr val="accent3"/>
          </a:solidFill>
          <a:ln/>
        </p:spPr>
      </p:sp>
      <p:sp>
        <p:nvSpPr>
          <p:cNvPr id="28" name="Finding number 2"/>
          <p:cNvSpPr txBox="1"/>
          <p:nvPr/>
        </p:nvSpPr>
        <p:spPr>
          <a:xfrm>
            <a:off x="4297680" y="4572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9" name="Finding 2"/>
          <p:cNvSpPr txBox="1"/>
          <p:nvPr/>
        </p:nvSpPr>
        <p:spPr>
          <a:xfrm>
            <a:off x="4892040" y="4526280"/>
            <a:ext cx="2880360" cy="1554480"/>
          </a:xfrm>
          <a:prstGeom prst="rect">
            <a:avLst/>
          </a:prstGeom>
          <a:noFill/>
          <a:ln/>
        </p:spPr>
        <p:txBody>
          <a:bodyPr wrap="square" lIns="0" tIns="0" rIns="0" bIns="0" rtlCol="0" anchor="t"/>
          <a:lstStyle/>
          <a:p>
            <a:pPr indent="0" marL="0">
              <a:buNone/>
            </a:pPr>
            <a:r>
              <a:rPr lang="en-US" sz="1800" dirty="0">
                <a:solidFill>
                  <a:schemeClr val="tx1"/>
                </a:solidFill>
              </a:rPr>
              <a:t>Orders with a discount above 20% lose money overall.</a:t>
            </a:r>
            <a:endParaRPr lang="en-US" sz="1800" dirty="0"/>
          </a:p>
        </p:txBody>
      </p:sp>
      <p:sp>
        <p:nvSpPr>
          <p:cNvPr id="30" name="Finding number bg 3"/>
          <p:cNvSpPr/>
          <p:nvPr/>
        </p:nvSpPr>
        <p:spPr>
          <a:xfrm>
            <a:off x="8046720" y="4572000"/>
            <a:ext cx="457200" cy="457200"/>
          </a:xfrm>
          <a:prstGeom prst="ellipse">
            <a:avLst/>
          </a:prstGeom>
          <a:solidFill>
            <a:schemeClr val="accent3"/>
          </a:solidFill>
          <a:ln/>
        </p:spPr>
      </p:sp>
      <p:sp>
        <p:nvSpPr>
          <p:cNvPr id="31" name="Finding number 3"/>
          <p:cNvSpPr txBox="1"/>
          <p:nvPr/>
        </p:nvSpPr>
        <p:spPr>
          <a:xfrm>
            <a:off x="8046720" y="4572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2" name="Finding 3"/>
          <p:cNvSpPr txBox="1"/>
          <p:nvPr/>
        </p:nvSpPr>
        <p:spPr>
          <a:xfrm>
            <a:off x="8641080" y="4526280"/>
            <a:ext cx="2880360" cy="1554480"/>
          </a:xfrm>
          <a:prstGeom prst="rect">
            <a:avLst/>
          </a:prstGeom>
          <a:noFill/>
          <a:ln/>
        </p:spPr>
        <p:txBody>
          <a:bodyPr wrap="square" lIns="0" tIns="0" rIns="0" bIns="0" rtlCol="0" anchor="t"/>
          <a:lstStyle/>
          <a:p>
            <a:pPr indent="0" marL="0">
              <a:buNone/>
            </a:pPr>
            <a:r>
              <a:rPr lang="en-US" sz="1800" dirty="0">
                <a:solidFill>
                  <a:schemeClr val="tx1"/>
                </a:solidFill>
              </a:rPr>
              <a:t>The Central region and four states (TX, OH, PA, IL) pull profit down.</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Sales are up 51% and profit up 89% since 2014</a:t>
            </a:r>
            <a:endParaRPr lang="en-US" sz="3400" dirty="0"/>
          </a:p>
        </p:txBody>
      </p:sp>
      <p:graphicFrame>
        <p:nvGraphicFramePr>
          <p:cNvPr id="3" name="Chart 0" descr=""/>
          <p:cNvGraphicFramePr/>
          <p:nvPr/>
        </p:nvGraphicFramePr>
        <p:xfrm>
          <a:off x="54864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Sales growth card"/>
          <p:cNvSpPr/>
          <p:nvPr/>
        </p:nvSpPr>
        <p:spPr>
          <a:xfrm>
            <a:off x="8138160" y="1463040"/>
            <a:ext cx="3474720" cy="1554480"/>
          </a:xfrm>
          <a:prstGeom prst="roundRect">
            <a:avLst>
              <a:gd name="adj" fmla="val 7059"/>
            </a:avLst>
          </a:prstGeom>
          <a:solidFill>
            <a:schemeClr val="bg2"/>
          </a:solidFill>
          <a:ln/>
          <a:effectLst>
            <a:outerShdw sx="100000" sy="100000" kx="0" ky="0" algn="bl" rotWithShape="0" blurRad="101600" dist="25400" dir="5400000">
              <a:srgbClr val="000000">
                <a:alpha val="12000"/>
              </a:srgbClr>
            </a:outerShdw>
          </a:effectLst>
        </p:spPr>
      </p:sp>
      <p:sp>
        <p:nvSpPr>
          <p:cNvPr id="5" name="Sales growth value"/>
          <p:cNvSpPr txBox="1"/>
          <p:nvPr/>
        </p:nvSpPr>
        <p:spPr>
          <a:xfrm>
            <a:off x="8412480" y="1600200"/>
            <a:ext cx="2926080" cy="777240"/>
          </a:xfrm>
          <a:prstGeom prst="rect">
            <a:avLst/>
          </a:prstGeom>
          <a:noFill/>
          <a:ln/>
        </p:spPr>
        <p:txBody>
          <a:bodyPr wrap="square" lIns="0" tIns="0" rIns="0" bIns="0" rtlCol="0" anchor="b"/>
          <a:lstStyle/>
          <a:p>
            <a:pPr indent="0" marL="0">
              <a:buNone/>
            </a:pPr>
            <a:r>
              <a:rPr lang="en-US" sz="4000" b="1" dirty="0">
                <a:solidFill>
                  <a:schemeClr val="accent1"/>
                </a:solidFill>
              </a:rPr>
              <a:t>+51%</a:t>
            </a:r>
            <a:endParaRPr lang="en-US" sz="4000" dirty="0"/>
          </a:p>
        </p:txBody>
      </p:sp>
      <p:sp>
        <p:nvSpPr>
          <p:cNvPr id="6" name="Sales growth label"/>
          <p:cNvSpPr txBox="1"/>
          <p:nvPr/>
        </p:nvSpPr>
        <p:spPr>
          <a:xfrm>
            <a:off x="8412480" y="2423160"/>
            <a:ext cx="2926080" cy="502920"/>
          </a:xfrm>
          <a:prstGeom prst="rect">
            <a:avLst/>
          </a:prstGeom>
          <a:noFill/>
          <a:ln/>
        </p:spPr>
        <p:txBody>
          <a:bodyPr wrap="square" lIns="0" tIns="0" rIns="0" bIns="0" rtlCol="0" anchor="t"/>
          <a:lstStyle/>
          <a:p>
            <a:pPr indent="0" marL="0">
              <a:buNone/>
            </a:pPr>
            <a:r>
              <a:rPr lang="en-US" sz="1400" dirty="0">
                <a:solidFill>
                  <a:schemeClr val="tx1"/>
                </a:solidFill>
              </a:rPr>
              <a:t>Sales growth, 2014 to 2017</a:t>
            </a:r>
            <a:endParaRPr lang="en-US" sz="1400" dirty="0"/>
          </a:p>
        </p:txBody>
      </p:sp>
      <p:sp>
        <p:nvSpPr>
          <p:cNvPr id="7" name="Profit growth card"/>
          <p:cNvSpPr/>
          <p:nvPr/>
        </p:nvSpPr>
        <p:spPr>
          <a:xfrm>
            <a:off x="8138160" y="3246120"/>
            <a:ext cx="3474720" cy="1554480"/>
          </a:xfrm>
          <a:prstGeom prst="roundRect">
            <a:avLst>
              <a:gd name="adj" fmla="val 7059"/>
            </a:avLst>
          </a:prstGeom>
          <a:solidFill>
            <a:schemeClr val="bg2"/>
          </a:solidFill>
          <a:ln/>
          <a:effectLst>
            <a:outerShdw sx="100000" sy="100000" kx="0" ky="0" algn="bl" rotWithShape="0" blurRad="101600" dist="25400" dir="5400000">
              <a:srgbClr val="000000">
                <a:alpha val="12000"/>
              </a:srgbClr>
            </a:outerShdw>
          </a:effectLst>
        </p:spPr>
      </p:sp>
      <p:sp>
        <p:nvSpPr>
          <p:cNvPr id="8" name="Profit growth value"/>
          <p:cNvSpPr txBox="1"/>
          <p:nvPr/>
        </p:nvSpPr>
        <p:spPr>
          <a:xfrm>
            <a:off x="8412480" y="3383280"/>
            <a:ext cx="2926080" cy="777240"/>
          </a:xfrm>
          <a:prstGeom prst="rect">
            <a:avLst/>
          </a:prstGeom>
          <a:noFill/>
          <a:ln/>
        </p:spPr>
        <p:txBody>
          <a:bodyPr wrap="square" lIns="0" tIns="0" rIns="0" bIns="0" rtlCol="0" anchor="b"/>
          <a:lstStyle/>
          <a:p>
            <a:pPr indent="0" marL="0">
              <a:buNone/>
            </a:pPr>
            <a:r>
              <a:rPr lang="en-US" sz="4000" b="1" dirty="0">
                <a:solidFill>
                  <a:schemeClr val="accent1"/>
                </a:solidFill>
              </a:rPr>
              <a:t>+89%</a:t>
            </a:r>
            <a:endParaRPr lang="en-US" sz="4000" dirty="0"/>
          </a:p>
        </p:txBody>
      </p:sp>
      <p:sp>
        <p:nvSpPr>
          <p:cNvPr id="9" name="Profit growth label"/>
          <p:cNvSpPr txBox="1"/>
          <p:nvPr/>
        </p:nvSpPr>
        <p:spPr>
          <a:xfrm>
            <a:off x="8412480" y="4206240"/>
            <a:ext cx="2926080" cy="502920"/>
          </a:xfrm>
          <a:prstGeom prst="rect">
            <a:avLst/>
          </a:prstGeom>
          <a:noFill/>
          <a:ln/>
        </p:spPr>
        <p:txBody>
          <a:bodyPr wrap="square" lIns="0" tIns="0" rIns="0" bIns="0" rtlCol="0" anchor="t"/>
          <a:lstStyle/>
          <a:p>
            <a:pPr indent="0" marL="0">
              <a:buNone/>
            </a:pPr>
            <a:r>
              <a:rPr lang="en-US" sz="1400" dirty="0">
                <a:solidFill>
                  <a:schemeClr val="tx1"/>
                </a:solidFill>
              </a:rPr>
              <a:t>Profit growth, 2014 to 2017</a:t>
            </a:r>
            <a:endParaRPr lang="en-US" sz="1400" dirty="0"/>
          </a:p>
        </p:txBody>
      </p:sp>
      <p:sp>
        <p:nvSpPr>
          <p:cNvPr id="10" name="Trend note"/>
          <p:cNvSpPr txBox="1"/>
          <p:nvPr/>
        </p:nvSpPr>
        <p:spPr>
          <a:xfrm>
            <a:off x="8138160" y="5029200"/>
            <a:ext cx="3474720" cy="1097280"/>
          </a:xfrm>
          <a:prstGeom prst="rect">
            <a:avLst/>
          </a:prstGeom>
          <a:noFill/>
          <a:ln/>
        </p:spPr>
        <p:txBody>
          <a:bodyPr wrap="square" lIns="0" tIns="0" rIns="0" bIns="0" rtlCol="0" anchor="t"/>
          <a:lstStyle/>
          <a:p>
            <a:pPr indent="0" marL="0">
              <a:buNone/>
            </a:pPr>
            <a:r>
              <a:rPr lang="en-US" sz="1400" dirty="0">
                <a:solidFill>
                  <a:schemeClr val="tx1"/>
                </a:solidFill>
              </a:rPr>
              <a:t>Profit margin improved from 10.2% to 12.7%. Sales dipped slightly in 2015, then grew strongly.</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Sales peak in September, November and December</a:t>
            </a:r>
            <a:endParaRPr lang="en-US" sz="3400" dirty="0"/>
          </a:p>
        </p:txBody>
      </p:sp>
      <p:graphicFrame>
        <p:nvGraphicFramePr>
          <p:cNvPr id="3" name="Chart 0" descr=""/>
          <p:cNvGraphicFramePr/>
          <p:nvPr/>
        </p:nvGraphicFramePr>
        <p:xfrm>
          <a:off x="548640" y="137160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4" name="Peak share card"/>
          <p:cNvSpPr/>
          <p:nvPr/>
        </p:nvSpPr>
        <p:spPr>
          <a:xfrm>
            <a:off x="8412480" y="1463040"/>
            <a:ext cx="3200400" cy="1737360"/>
          </a:xfrm>
          <a:prstGeom prst="roundRect">
            <a:avLst>
              <a:gd name="adj" fmla="val 6316"/>
            </a:avLst>
          </a:prstGeom>
          <a:solidFill>
            <a:schemeClr val="bg2"/>
          </a:solidFill>
          <a:ln/>
          <a:effectLst>
            <a:outerShdw sx="100000" sy="100000" kx="0" ky="0" algn="bl" rotWithShape="0" blurRad="101600" dist="25400" dir="5400000">
              <a:srgbClr val="000000">
                <a:alpha val="12000"/>
              </a:srgbClr>
            </a:outerShdw>
          </a:effectLst>
        </p:spPr>
      </p:sp>
      <p:sp>
        <p:nvSpPr>
          <p:cNvPr id="5" name="Peak share value"/>
          <p:cNvSpPr txBox="1"/>
          <p:nvPr/>
        </p:nvSpPr>
        <p:spPr>
          <a:xfrm>
            <a:off x="8686800" y="1600200"/>
            <a:ext cx="2651760" cy="868680"/>
          </a:xfrm>
          <a:prstGeom prst="rect">
            <a:avLst/>
          </a:prstGeom>
          <a:noFill/>
          <a:ln/>
        </p:spPr>
        <p:txBody>
          <a:bodyPr wrap="square" lIns="0" tIns="0" rIns="0" bIns="0" rtlCol="0" anchor="b"/>
          <a:lstStyle/>
          <a:p>
            <a:pPr indent="0" marL="0">
              <a:buNone/>
            </a:pPr>
            <a:r>
              <a:rPr lang="en-US" sz="4000" b="1" dirty="0">
                <a:solidFill>
                  <a:schemeClr val="accent1"/>
                </a:solidFill>
              </a:rPr>
              <a:t>43%</a:t>
            </a:r>
            <a:endParaRPr lang="en-US" sz="4000" dirty="0"/>
          </a:p>
        </p:txBody>
      </p:sp>
      <p:sp>
        <p:nvSpPr>
          <p:cNvPr id="6" name="Peak share label"/>
          <p:cNvSpPr txBox="1"/>
          <p:nvPr/>
        </p:nvSpPr>
        <p:spPr>
          <a:xfrm>
            <a:off x="8686800" y="2514600"/>
            <a:ext cx="2651760" cy="594360"/>
          </a:xfrm>
          <a:prstGeom prst="rect">
            <a:avLst/>
          </a:prstGeom>
          <a:noFill/>
          <a:ln/>
        </p:spPr>
        <p:txBody>
          <a:bodyPr wrap="square" lIns="0" tIns="0" rIns="0" bIns="0" rtlCol="0" anchor="t"/>
          <a:lstStyle/>
          <a:p>
            <a:pPr indent="0" marL="0">
              <a:buNone/>
            </a:pPr>
            <a:r>
              <a:rPr lang="en-US" sz="1400" dirty="0">
                <a:solidFill>
                  <a:schemeClr val="tx1"/>
                </a:solidFill>
              </a:rPr>
              <a:t>of all sales come from just Sep, Nov and Dec</a:t>
            </a:r>
            <a:endParaRPr lang="en-US" sz="1400" dirty="0"/>
          </a:p>
        </p:txBody>
      </p:sp>
      <p:sp>
        <p:nvSpPr>
          <p:cNvPr id="7" name="Season note"/>
          <p:cNvSpPr txBox="1"/>
          <p:nvPr/>
        </p:nvSpPr>
        <p:spPr>
          <a:xfrm>
            <a:off x="8686800" y="3474720"/>
            <a:ext cx="2926080" cy="1463040"/>
          </a:xfrm>
          <a:prstGeom prst="rect">
            <a:avLst/>
          </a:prstGeom>
          <a:noFill/>
          <a:ln/>
        </p:spPr>
        <p:txBody>
          <a:bodyPr wrap="square" lIns="0" tIns="0" rIns="0" bIns="0" rtlCol="0" anchor="t"/>
          <a:lstStyle/>
          <a:p>
            <a:pPr indent="0" marL="0">
              <a:buNone/>
            </a:pPr>
            <a:r>
              <a:rPr lang="en-US" sz="1500" dirty="0">
                <a:solidFill>
                  <a:schemeClr val="tx1"/>
                </a:solidFill>
              </a:rPr>
              <a:t>February is the slowest month. Stock and marketing should be ready before September.</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Furniture sells a lot but earns very little</a:t>
            </a:r>
            <a:endParaRPr lang="en-US" sz="3400" dirty="0"/>
          </a:p>
        </p:txBody>
      </p:sp>
      <p:graphicFrame>
        <p:nvGraphicFramePr>
          <p:cNvPr id="3" name="Chart 0" descr=""/>
          <p:cNvGraphicFramePr/>
          <p:nvPr/>
        </p:nvGraphicFramePr>
        <p:xfrm>
          <a:off x="548640" y="1371600"/>
          <a:ext cx="6583680" cy="4754880"/>
        </p:xfrm>
        <a:graphic xmlns:a="http://schemas.openxmlformats.org/drawingml/2006/main">
          <a:graphicData uri="http://schemas.openxmlformats.org/drawingml/2006/chart">
            <c:chart xmlns:c="http://schemas.openxmlformats.org/drawingml/2006/chart" r:id="rId1"/>
          </a:graphicData>
        </a:graphic>
      </p:graphicFrame>
      <p:sp>
        <p:nvSpPr>
          <p:cNvPr id="4" name="Technology card"/>
          <p:cNvSpPr/>
          <p:nvPr/>
        </p:nvSpPr>
        <p:spPr>
          <a:xfrm>
            <a:off x="7498080" y="1463040"/>
            <a:ext cx="4114800" cy="1371600"/>
          </a:xfrm>
          <a:prstGeom prst="roundRect">
            <a:avLst>
              <a:gd name="adj" fmla="val 8000"/>
            </a:avLst>
          </a:prstGeom>
          <a:solidFill>
            <a:schemeClr val="bg2"/>
          </a:solidFill>
          <a:ln/>
          <a:effectLst>
            <a:outerShdw sx="100000" sy="100000" kx="0" ky="0" algn="bl" rotWithShape="0" blurRad="101600" dist="25400" dir="5400000">
              <a:srgbClr val="000000">
                <a:alpha val="12000"/>
              </a:srgbClr>
            </a:outerShdw>
          </a:effectLst>
        </p:spPr>
      </p:sp>
      <p:sp>
        <p:nvSpPr>
          <p:cNvPr id="5" name="Technology margin"/>
          <p:cNvSpPr txBox="1"/>
          <p:nvPr/>
        </p:nvSpPr>
        <p:spPr>
          <a:xfrm>
            <a:off x="7772400" y="1600200"/>
            <a:ext cx="1737360" cy="1097280"/>
          </a:xfrm>
          <a:prstGeom prst="rect">
            <a:avLst/>
          </a:prstGeom>
          <a:noFill/>
          <a:ln/>
        </p:spPr>
        <p:txBody>
          <a:bodyPr wrap="square" lIns="0" tIns="0" rIns="0" bIns="0" rtlCol="0" anchor="ctr"/>
          <a:lstStyle/>
          <a:p>
            <a:pPr indent="0" marL="0">
              <a:buNone/>
            </a:pPr>
            <a:r>
              <a:rPr lang="en-US" sz="3600" b="1" dirty="0">
                <a:solidFill>
                  <a:schemeClr val="accent1"/>
                </a:solidFill>
              </a:rPr>
              <a:t>17.4%</a:t>
            </a:r>
            <a:endParaRPr lang="en-US" sz="3600" dirty="0"/>
          </a:p>
        </p:txBody>
      </p:sp>
      <p:sp>
        <p:nvSpPr>
          <p:cNvPr id="6" name="Technology label"/>
          <p:cNvSpPr txBox="1"/>
          <p:nvPr/>
        </p:nvSpPr>
        <p:spPr>
          <a:xfrm>
            <a:off x="9509760" y="1600200"/>
            <a:ext cx="2011680" cy="1097280"/>
          </a:xfrm>
          <a:prstGeom prst="rect">
            <a:avLst/>
          </a:prstGeom>
          <a:noFill/>
          <a:ln/>
        </p:spPr>
        <p:txBody>
          <a:bodyPr wrap="square" lIns="0" tIns="0" rIns="0" bIns="0" rtlCol="0" anchor="ctr"/>
          <a:lstStyle/>
          <a:p>
            <a:pPr indent="0" marL="0">
              <a:buNone/>
            </a:pPr>
            <a:r>
              <a:rPr lang="en-US" sz="1600" b="1" dirty="0">
                <a:solidFill>
                  <a:schemeClr val="tx1"/>
                </a:solidFill>
              </a:rPr>
              <a:t>Technology</a:t>
            </a:r>
            <a:endParaRPr lang="en-US" sz="1600" dirty="0"/>
          </a:p>
          <a:p>
            <a:pPr indent="0" marL="0">
              <a:buNone/>
            </a:pPr>
            <a:r>
              <a:rPr lang="en-US" sz="1400" dirty="0">
                <a:solidFill>
                  <a:schemeClr val="tx1"/>
                </a:solidFill>
              </a:rPr>
              <a:t>profit margin</a:t>
            </a:r>
            <a:endParaRPr lang="en-US" sz="1600" dirty="0"/>
          </a:p>
        </p:txBody>
      </p:sp>
      <p:sp>
        <p:nvSpPr>
          <p:cNvPr id="7" name="Office Supplies card"/>
          <p:cNvSpPr/>
          <p:nvPr/>
        </p:nvSpPr>
        <p:spPr>
          <a:xfrm>
            <a:off x="7498080" y="3017520"/>
            <a:ext cx="4114800" cy="1371600"/>
          </a:xfrm>
          <a:prstGeom prst="roundRect">
            <a:avLst>
              <a:gd name="adj" fmla="val 8000"/>
            </a:avLst>
          </a:prstGeom>
          <a:solidFill>
            <a:schemeClr val="bg2"/>
          </a:solidFill>
          <a:ln/>
          <a:effectLst>
            <a:outerShdw sx="100000" sy="100000" kx="0" ky="0" algn="bl" rotWithShape="0" blurRad="101600" dist="25400" dir="5400000">
              <a:srgbClr val="000000">
                <a:alpha val="12000"/>
              </a:srgbClr>
            </a:outerShdw>
          </a:effectLst>
        </p:spPr>
      </p:sp>
      <p:sp>
        <p:nvSpPr>
          <p:cNvPr id="8" name="Office Supplies margin"/>
          <p:cNvSpPr txBox="1"/>
          <p:nvPr/>
        </p:nvSpPr>
        <p:spPr>
          <a:xfrm>
            <a:off x="7772400" y="3154680"/>
            <a:ext cx="1737360" cy="1097280"/>
          </a:xfrm>
          <a:prstGeom prst="rect">
            <a:avLst/>
          </a:prstGeom>
          <a:noFill/>
          <a:ln/>
        </p:spPr>
        <p:txBody>
          <a:bodyPr wrap="square" lIns="0" tIns="0" rIns="0" bIns="0" rtlCol="0" anchor="ctr"/>
          <a:lstStyle/>
          <a:p>
            <a:pPr indent="0" marL="0">
              <a:buNone/>
            </a:pPr>
            <a:r>
              <a:rPr lang="en-US" sz="3600" b="1" dirty="0">
                <a:solidFill>
                  <a:schemeClr val="accent1"/>
                </a:solidFill>
              </a:rPr>
              <a:t>17.0%</a:t>
            </a:r>
            <a:endParaRPr lang="en-US" sz="3600" dirty="0"/>
          </a:p>
        </p:txBody>
      </p:sp>
      <p:sp>
        <p:nvSpPr>
          <p:cNvPr id="9" name="Office Supplies label"/>
          <p:cNvSpPr txBox="1"/>
          <p:nvPr/>
        </p:nvSpPr>
        <p:spPr>
          <a:xfrm>
            <a:off x="9509760" y="3154680"/>
            <a:ext cx="2011680" cy="1097280"/>
          </a:xfrm>
          <a:prstGeom prst="rect">
            <a:avLst/>
          </a:prstGeom>
          <a:noFill/>
          <a:ln/>
        </p:spPr>
        <p:txBody>
          <a:bodyPr wrap="square" lIns="0" tIns="0" rIns="0" bIns="0" rtlCol="0" anchor="ctr"/>
          <a:lstStyle/>
          <a:p>
            <a:pPr indent="0" marL="0">
              <a:buNone/>
            </a:pPr>
            <a:r>
              <a:rPr lang="en-US" sz="1600" b="1" dirty="0">
                <a:solidFill>
                  <a:schemeClr val="tx1"/>
                </a:solidFill>
              </a:rPr>
              <a:t>Office Supplies</a:t>
            </a:r>
            <a:endParaRPr lang="en-US" sz="1600" dirty="0"/>
          </a:p>
          <a:p>
            <a:pPr indent="0" marL="0">
              <a:buNone/>
            </a:pPr>
            <a:r>
              <a:rPr lang="en-US" sz="1400" dirty="0">
                <a:solidFill>
                  <a:schemeClr val="tx1"/>
                </a:solidFill>
              </a:rPr>
              <a:t>profit margin</a:t>
            </a:r>
            <a:endParaRPr lang="en-US" sz="1600" dirty="0"/>
          </a:p>
        </p:txBody>
      </p:sp>
      <p:sp>
        <p:nvSpPr>
          <p:cNvPr id="10" name="Furniture card"/>
          <p:cNvSpPr/>
          <p:nvPr/>
        </p:nvSpPr>
        <p:spPr>
          <a:xfrm>
            <a:off x="7498080" y="4572000"/>
            <a:ext cx="4114800" cy="1371600"/>
          </a:xfrm>
          <a:prstGeom prst="roundRect">
            <a:avLst>
              <a:gd name="adj" fmla="val 8000"/>
            </a:avLst>
          </a:prstGeom>
          <a:solidFill>
            <a:schemeClr val="bg2"/>
          </a:solidFill>
          <a:ln/>
          <a:effectLst>
            <a:outerShdw sx="100000" sy="100000" kx="0" ky="0" algn="bl" rotWithShape="0" blurRad="101600" dist="25400" dir="5400000">
              <a:srgbClr val="000000">
                <a:alpha val="12000"/>
              </a:srgbClr>
            </a:outerShdw>
          </a:effectLst>
        </p:spPr>
      </p:sp>
      <p:sp>
        <p:nvSpPr>
          <p:cNvPr id="11" name="Furniture margin"/>
          <p:cNvSpPr txBox="1"/>
          <p:nvPr/>
        </p:nvSpPr>
        <p:spPr>
          <a:xfrm>
            <a:off x="7772400" y="4709160"/>
            <a:ext cx="1737360" cy="1097280"/>
          </a:xfrm>
          <a:prstGeom prst="rect">
            <a:avLst/>
          </a:prstGeom>
          <a:noFill/>
          <a:ln/>
        </p:spPr>
        <p:txBody>
          <a:bodyPr wrap="square" lIns="0" tIns="0" rIns="0" bIns="0" rtlCol="0" anchor="ctr"/>
          <a:lstStyle/>
          <a:p>
            <a:pPr indent="0" marL="0">
              <a:buNone/>
            </a:pPr>
            <a:r>
              <a:rPr lang="en-US" sz="3600" b="1" dirty="0">
                <a:solidFill>
                  <a:schemeClr val="accent3"/>
                </a:solidFill>
              </a:rPr>
              <a:t>2.5%</a:t>
            </a:r>
            <a:endParaRPr lang="en-US" sz="3600" dirty="0"/>
          </a:p>
        </p:txBody>
      </p:sp>
      <p:sp>
        <p:nvSpPr>
          <p:cNvPr id="12" name="Furniture label"/>
          <p:cNvSpPr txBox="1"/>
          <p:nvPr/>
        </p:nvSpPr>
        <p:spPr>
          <a:xfrm>
            <a:off x="9509760" y="4709160"/>
            <a:ext cx="2011680" cy="1097280"/>
          </a:xfrm>
          <a:prstGeom prst="rect">
            <a:avLst/>
          </a:prstGeom>
          <a:noFill/>
          <a:ln/>
        </p:spPr>
        <p:txBody>
          <a:bodyPr wrap="square" lIns="0" tIns="0" rIns="0" bIns="0" rtlCol="0" anchor="ctr"/>
          <a:lstStyle/>
          <a:p>
            <a:pPr indent="0" marL="0">
              <a:buNone/>
            </a:pPr>
            <a:r>
              <a:rPr lang="en-US" sz="1600" b="1" dirty="0">
                <a:solidFill>
                  <a:schemeClr val="tx1"/>
                </a:solidFill>
              </a:rPr>
              <a:t>Furniture</a:t>
            </a:r>
            <a:endParaRPr lang="en-US" sz="1600" dirty="0"/>
          </a:p>
          <a:p>
            <a:pPr indent="0" marL="0">
              <a:buNone/>
            </a:pPr>
            <a:r>
              <a:rPr lang="en-US" sz="1400" dirty="0">
                <a:solidFill>
                  <a:schemeClr val="tx1"/>
                </a:solidFill>
              </a:rPr>
              <a:t>profit margin</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Three sub-categories are losing money</a:t>
            </a:r>
            <a:endParaRPr lang="en-US" sz="3400" dirty="0"/>
          </a:p>
        </p:txBody>
      </p:sp>
      <p:graphicFrame>
        <p:nvGraphicFramePr>
          <p:cNvPr id="3" name="Chart 0" descr=""/>
          <p:cNvGraphicFramePr/>
          <p:nvPr/>
        </p:nvGraphicFramePr>
        <p:xfrm>
          <a:off x="548640" y="1280160"/>
          <a:ext cx="7223760" cy="4937760"/>
        </p:xfrm>
        <a:graphic xmlns:a="http://schemas.openxmlformats.org/drawingml/2006/main">
          <a:graphicData uri="http://schemas.openxmlformats.org/drawingml/2006/chart">
            <c:chart xmlns:c="http://schemas.openxmlformats.org/drawingml/2006/chart" r:id="rId1"/>
          </a:graphicData>
        </a:graphic>
      </p:graphicFrame>
      <p:sp>
        <p:nvSpPr>
          <p:cNvPr id="4" name="Tables card"/>
          <p:cNvSpPr/>
          <p:nvPr/>
        </p:nvSpPr>
        <p:spPr>
          <a:xfrm>
            <a:off x="8138160" y="1463040"/>
            <a:ext cx="3474720" cy="1188720"/>
          </a:xfrm>
          <a:prstGeom prst="roundRect">
            <a:avLst>
              <a:gd name="adj" fmla="val 9231"/>
            </a:avLst>
          </a:prstGeom>
          <a:solidFill>
            <a:schemeClr val="bg2"/>
          </a:solidFill>
          <a:ln/>
          <a:effectLst>
            <a:outerShdw sx="100000" sy="100000" kx="0" ky="0" algn="bl" rotWithShape="0" blurRad="101600" dist="25400" dir="5400000">
              <a:srgbClr val="000000">
                <a:alpha val="12000"/>
              </a:srgbClr>
            </a:outerShdw>
          </a:effectLst>
        </p:spPr>
      </p:sp>
      <p:sp>
        <p:nvSpPr>
          <p:cNvPr id="5" name="Tables loss"/>
          <p:cNvSpPr txBox="1"/>
          <p:nvPr/>
        </p:nvSpPr>
        <p:spPr>
          <a:xfrm>
            <a:off x="8412480" y="1554480"/>
            <a:ext cx="1737360" cy="1005840"/>
          </a:xfrm>
          <a:prstGeom prst="rect">
            <a:avLst/>
          </a:prstGeom>
          <a:noFill/>
          <a:ln/>
        </p:spPr>
        <p:txBody>
          <a:bodyPr wrap="square" lIns="0" tIns="0" rIns="0" bIns="0" rtlCol="0" anchor="ctr"/>
          <a:lstStyle/>
          <a:p>
            <a:pPr indent="0" marL="0">
              <a:buNone/>
            </a:pPr>
            <a:r>
              <a:rPr lang="en-US" sz="3000" b="1" dirty="0">
                <a:solidFill>
                  <a:schemeClr val="accent3"/>
                </a:solidFill>
              </a:rPr>
              <a:t>-$17.7K</a:t>
            </a:r>
            <a:endParaRPr lang="en-US" sz="3000" dirty="0"/>
          </a:p>
        </p:txBody>
      </p:sp>
      <p:sp>
        <p:nvSpPr>
          <p:cNvPr id="6" name="Tables label"/>
          <p:cNvSpPr txBox="1"/>
          <p:nvPr/>
        </p:nvSpPr>
        <p:spPr>
          <a:xfrm>
            <a:off x="10058400" y="1554480"/>
            <a:ext cx="1463040" cy="1005840"/>
          </a:xfrm>
          <a:prstGeom prst="rect">
            <a:avLst/>
          </a:prstGeom>
          <a:noFill/>
          <a:ln/>
        </p:spPr>
        <p:txBody>
          <a:bodyPr wrap="square" lIns="0" tIns="0" rIns="0" bIns="0" rtlCol="0" anchor="ctr"/>
          <a:lstStyle/>
          <a:p>
            <a:pPr indent="0" marL="0">
              <a:buNone/>
            </a:pPr>
            <a:r>
              <a:rPr lang="en-US" sz="1600" b="1" dirty="0">
                <a:solidFill>
                  <a:schemeClr val="tx1"/>
                </a:solidFill>
              </a:rPr>
              <a:t>Tables</a:t>
            </a:r>
            <a:endParaRPr lang="en-US" sz="1600" dirty="0"/>
          </a:p>
          <a:p>
            <a:pPr indent="0" marL="0">
              <a:buNone/>
            </a:pPr>
            <a:r>
              <a:rPr lang="en-US" sz="1400" dirty="0">
                <a:solidFill>
                  <a:schemeClr val="tx1"/>
                </a:solidFill>
              </a:rPr>
              <a:t>avg. discount 26%</a:t>
            </a:r>
            <a:endParaRPr lang="en-US" sz="1600" dirty="0"/>
          </a:p>
        </p:txBody>
      </p:sp>
      <p:sp>
        <p:nvSpPr>
          <p:cNvPr id="7" name="Bookcases card"/>
          <p:cNvSpPr/>
          <p:nvPr/>
        </p:nvSpPr>
        <p:spPr>
          <a:xfrm>
            <a:off x="8138160" y="2834640"/>
            <a:ext cx="3474720" cy="1188720"/>
          </a:xfrm>
          <a:prstGeom prst="roundRect">
            <a:avLst>
              <a:gd name="adj" fmla="val 9231"/>
            </a:avLst>
          </a:prstGeom>
          <a:solidFill>
            <a:schemeClr val="bg2"/>
          </a:solidFill>
          <a:ln/>
          <a:effectLst>
            <a:outerShdw sx="100000" sy="100000" kx="0" ky="0" algn="bl" rotWithShape="0" blurRad="101600" dist="25400" dir="5400000">
              <a:srgbClr val="000000">
                <a:alpha val="12000"/>
              </a:srgbClr>
            </a:outerShdw>
          </a:effectLst>
        </p:spPr>
      </p:sp>
      <p:sp>
        <p:nvSpPr>
          <p:cNvPr id="8" name="Bookcases loss"/>
          <p:cNvSpPr txBox="1"/>
          <p:nvPr/>
        </p:nvSpPr>
        <p:spPr>
          <a:xfrm>
            <a:off x="8412480" y="2926080"/>
            <a:ext cx="1737360" cy="1005840"/>
          </a:xfrm>
          <a:prstGeom prst="rect">
            <a:avLst/>
          </a:prstGeom>
          <a:noFill/>
          <a:ln/>
        </p:spPr>
        <p:txBody>
          <a:bodyPr wrap="square" lIns="0" tIns="0" rIns="0" bIns="0" rtlCol="0" anchor="ctr"/>
          <a:lstStyle/>
          <a:p>
            <a:pPr indent="0" marL="0">
              <a:buNone/>
            </a:pPr>
            <a:r>
              <a:rPr lang="en-US" sz="3000" b="1" dirty="0">
                <a:solidFill>
                  <a:schemeClr val="accent3"/>
                </a:solidFill>
              </a:rPr>
              <a:t>-$3.5K</a:t>
            </a:r>
            <a:endParaRPr lang="en-US" sz="3000" dirty="0"/>
          </a:p>
        </p:txBody>
      </p:sp>
      <p:sp>
        <p:nvSpPr>
          <p:cNvPr id="9" name="Bookcases label"/>
          <p:cNvSpPr txBox="1"/>
          <p:nvPr/>
        </p:nvSpPr>
        <p:spPr>
          <a:xfrm>
            <a:off x="10058400" y="2926080"/>
            <a:ext cx="1463040" cy="1005840"/>
          </a:xfrm>
          <a:prstGeom prst="rect">
            <a:avLst/>
          </a:prstGeom>
          <a:noFill/>
          <a:ln/>
        </p:spPr>
        <p:txBody>
          <a:bodyPr wrap="square" lIns="0" tIns="0" rIns="0" bIns="0" rtlCol="0" anchor="ctr"/>
          <a:lstStyle/>
          <a:p>
            <a:pPr indent="0" marL="0">
              <a:buNone/>
            </a:pPr>
            <a:r>
              <a:rPr lang="en-US" sz="1600" b="1" dirty="0">
                <a:solidFill>
                  <a:schemeClr val="tx1"/>
                </a:solidFill>
              </a:rPr>
              <a:t>Bookcases</a:t>
            </a:r>
            <a:endParaRPr lang="en-US" sz="1600" dirty="0"/>
          </a:p>
          <a:p>
            <a:pPr indent="0" marL="0">
              <a:buNone/>
            </a:pPr>
            <a:r>
              <a:rPr lang="en-US" sz="1400" dirty="0">
                <a:solidFill>
                  <a:schemeClr val="tx1"/>
                </a:solidFill>
              </a:rPr>
              <a:t>avg. discount 21%</a:t>
            </a:r>
            <a:endParaRPr lang="en-US" sz="1600" dirty="0"/>
          </a:p>
        </p:txBody>
      </p:sp>
      <p:sp>
        <p:nvSpPr>
          <p:cNvPr id="10" name="Supplies card"/>
          <p:cNvSpPr/>
          <p:nvPr/>
        </p:nvSpPr>
        <p:spPr>
          <a:xfrm>
            <a:off x="8138160" y="4206240"/>
            <a:ext cx="3474720" cy="1188720"/>
          </a:xfrm>
          <a:prstGeom prst="roundRect">
            <a:avLst>
              <a:gd name="adj" fmla="val 9231"/>
            </a:avLst>
          </a:prstGeom>
          <a:solidFill>
            <a:schemeClr val="bg2"/>
          </a:solidFill>
          <a:ln/>
          <a:effectLst>
            <a:outerShdw sx="100000" sy="100000" kx="0" ky="0" algn="bl" rotWithShape="0" blurRad="101600" dist="25400" dir="5400000">
              <a:srgbClr val="000000">
                <a:alpha val="12000"/>
              </a:srgbClr>
            </a:outerShdw>
          </a:effectLst>
        </p:spPr>
      </p:sp>
      <p:sp>
        <p:nvSpPr>
          <p:cNvPr id="11" name="Supplies loss"/>
          <p:cNvSpPr txBox="1"/>
          <p:nvPr/>
        </p:nvSpPr>
        <p:spPr>
          <a:xfrm>
            <a:off x="8412480" y="4297680"/>
            <a:ext cx="1737360" cy="1005840"/>
          </a:xfrm>
          <a:prstGeom prst="rect">
            <a:avLst/>
          </a:prstGeom>
          <a:noFill/>
          <a:ln/>
        </p:spPr>
        <p:txBody>
          <a:bodyPr wrap="square" lIns="0" tIns="0" rIns="0" bIns="0" rtlCol="0" anchor="ctr"/>
          <a:lstStyle/>
          <a:p>
            <a:pPr indent="0" marL="0">
              <a:buNone/>
            </a:pPr>
            <a:r>
              <a:rPr lang="en-US" sz="3000" b="1" dirty="0">
                <a:solidFill>
                  <a:schemeClr val="accent3"/>
                </a:solidFill>
              </a:rPr>
              <a:t>-$1.2K</a:t>
            </a:r>
            <a:endParaRPr lang="en-US" sz="3000" dirty="0"/>
          </a:p>
        </p:txBody>
      </p:sp>
      <p:sp>
        <p:nvSpPr>
          <p:cNvPr id="12" name="Supplies label"/>
          <p:cNvSpPr txBox="1"/>
          <p:nvPr/>
        </p:nvSpPr>
        <p:spPr>
          <a:xfrm>
            <a:off x="10058400" y="4297680"/>
            <a:ext cx="1463040" cy="1005840"/>
          </a:xfrm>
          <a:prstGeom prst="rect">
            <a:avLst/>
          </a:prstGeom>
          <a:noFill/>
          <a:ln/>
        </p:spPr>
        <p:txBody>
          <a:bodyPr wrap="square" lIns="0" tIns="0" rIns="0" bIns="0" rtlCol="0" anchor="ctr"/>
          <a:lstStyle/>
          <a:p>
            <a:pPr indent="0" marL="0">
              <a:buNone/>
            </a:pPr>
            <a:r>
              <a:rPr lang="en-US" sz="1600" b="1" dirty="0">
                <a:solidFill>
                  <a:schemeClr val="tx1"/>
                </a:solidFill>
              </a:rPr>
              <a:t>Supplies</a:t>
            </a:r>
            <a:endParaRPr lang="en-US" sz="1600" dirty="0"/>
          </a:p>
          <a:p>
            <a:pPr indent="0" marL="0">
              <a:buNone/>
            </a:pPr>
            <a:r>
              <a:rPr lang="en-US" sz="1400" dirty="0">
                <a:solidFill>
                  <a:schemeClr val="tx1"/>
                </a:solidFill>
              </a:rPr>
              <a:t>avg. discount 8%</a:t>
            </a:r>
            <a:endParaRPr lang="en-US" sz="1600" dirty="0"/>
          </a:p>
        </p:txBody>
      </p:sp>
      <p:sp>
        <p:nvSpPr>
          <p:cNvPr id="13" name="Sub note"/>
          <p:cNvSpPr txBox="1"/>
          <p:nvPr/>
        </p:nvSpPr>
        <p:spPr>
          <a:xfrm>
            <a:off x="8138160" y="5577840"/>
            <a:ext cx="3474720" cy="640080"/>
          </a:xfrm>
          <a:prstGeom prst="rect">
            <a:avLst/>
          </a:prstGeom>
          <a:noFill/>
          <a:ln/>
        </p:spPr>
        <p:txBody>
          <a:bodyPr wrap="square" lIns="0" tIns="0" rIns="0" bIns="0" rtlCol="0" anchor="t"/>
          <a:lstStyle/>
          <a:p>
            <a:pPr indent="0" marL="0">
              <a:buNone/>
            </a:pPr>
            <a:r>
              <a:rPr lang="en-US" sz="1400" dirty="0">
                <a:solidFill>
                  <a:schemeClr val="tx1"/>
                </a:solidFill>
              </a:rPr>
              <a:t>Tables lose the most and carry the highest average discount of the three.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The Central region and four states drag profit down</a:t>
            </a:r>
            <a:endParaRPr lang="en-US" sz="3400" dirty="0"/>
          </a:p>
        </p:txBody>
      </p:sp>
      <p:graphicFrame>
        <p:nvGraphicFramePr>
          <p:cNvPr id="3" name="Chart 0" descr=""/>
          <p:cNvGraphicFramePr/>
          <p:nvPr/>
        </p:nvGraphicFramePr>
        <p:xfrm>
          <a:off x="548640" y="1280160"/>
          <a:ext cx="566928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492240" y="1280160"/>
          <a:ext cx="5120640" cy="3840480"/>
        </p:xfrm>
        <a:graphic xmlns:a="http://schemas.openxmlformats.org/drawingml/2006/main">
          <a:graphicData uri="http://schemas.openxmlformats.org/drawingml/2006/chart">
            <c:chart xmlns:c="http://schemas.openxmlformats.org/drawingml/2006/chart" r:id="rId2"/>
          </a:graphicData>
        </a:graphic>
      </p:graphicFrame>
      <p:sp>
        <p:nvSpPr>
          <p:cNvPr id="5" name="Region callout card"/>
          <p:cNvSpPr/>
          <p:nvPr/>
        </p:nvSpPr>
        <p:spPr>
          <a:xfrm>
            <a:off x="548640" y="5349240"/>
            <a:ext cx="11064240" cy="868680"/>
          </a:xfrm>
          <a:prstGeom prst="roundRect">
            <a:avLst>
              <a:gd name="adj" fmla="val 12632"/>
            </a:avLst>
          </a:prstGeom>
          <a:solidFill>
            <a:schemeClr val="bg2"/>
          </a:solidFill>
          <a:ln/>
          <a:effectLst>
            <a:outerShdw sx="100000" sy="100000" kx="0" ky="0" algn="bl" rotWithShape="0" blurRad="101600" dist="25400" dir="5400000">
              <a:srgbClr val="000000">
                <a:alpha val="12000"/>
              </a:srgbClr>
            </a:outerShdw>
          </a:effectLst>
        </p:spPr>
      </p:sp>
      <p:sp>
        <p:nvSpPr>
          <p:cNvPr id="6" name="Region callout"/>
          <p:cNvSpPr txBox="1"/>
          <p:nvPr/>
        </p:nvSpPr>
        <p:spPr>
          <a:xfrm>
            <a:off x="822960" y="5394960"/>
            <a:ext cx="10515600" cy="777240"/>
          </a:xfrm>
          <a:prstGeom prst="rect">
            <a:avLst/>
          </a:prstGeom>
          <a:noFill/>
          <a:ln/>
        </p:spPr>
        <p:txBody>
          <a:bodyPr wrap="square" lIns="0" tIns="0" rIns="0" bIns="0" rtlCol="0" anchor="ctr"/>
          <a:lstStyle/>
          <a:p>
            <a:pPr indent="0" marL="0">
              <a:buNone/>
            </a:pPr>
            <a:r>
              <a:rPr lang="en-US" sz="1600" dirty="0">
                <a:solidFill>
                  <a:schemeClr val="tx1"/>
                </a:solidFill>
              </a:rPr>
              <a:t>Central gives 24% average discount versus 11% in the West, so its margin is only 7.9% compared with 14.9% in the West.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Consumers bring 51% of all sales</a:t>
            </a:r>
            <a:endParaRPr lang="en-US" sz="3400" dirty="0"/>
          </a:p>
        </p:txBody>
      </p:sp>
      <p:graphicFrame>
        <p:nvGraphicFramePr>
          <p:cNvPr id="3" name="Chart 0" descr=""/>
          <p:cNvGraphicFramePr/>
          <p:nvPr/>
        </p:nvGraphicFramePr>
        <p:xfrm>
          <a:off x="548640" y="1280160"/>
          <a:ext cx="5120640" cy="4846320"/>
        </p:xfrm>
        <a:graphic xmlns:a="http://schemas.openxmlformats.org/drawingml/2006/main">
          <a:graphicData uri="http://schemas.openxmlformats.org/drawingml/2006/chart">
            <c:chart xmlns:c="http://schemas.openxmlformats.org/drawingml/2006/chart" r:id="rId1"/>
          </a:graphicData>
        </a:graphic>
      </p:graphicFrame>
      <p:sp>
        <p:nvSpPr>
          <p:cNvPr id="4" name="Table header"/>
          <p:cNvSpPr txBox="1"/>
          <p:nvPr/>
        </p:nvSpPr>
        <p:spPr>
          <a:xfrm>
            <a:off x="6126480" y="1371600"/>
            <a:ext cx="5486400" cy="411480"/>
          </a:xfrm>
          <a:prstGeom prst="rect">
            <a:avLst/>
          </a:prstGeom>
          <a:noFill/>
          <a:ln/>
        </p:spPr>
        <p:txBody>
          <a:bodyPr wrap="square" lIns="0" tIns="0" rIns="0" bIns="0" rtlCol="0" anchor="ctr"/>
          <a:lstStyle/>
          <a:p>
            <a:pPr indent="0" marL="0">
              <a:buNone/>
            </a:pPr>
            <a:r>
              <a:rPr lang="en-US" sz="2000" b="1" dirty="0">
                <a:solidFill>
                  <a:schemeClr val="tx2"/>
                </a:solidFill>
              </a:rPr>
              <a:t>Top 5 customers by sales</a:t>
            </a:r>
            <a:endParaRPr lang="en-US" sz="2000" dirty="0"/>
          </a:p>
        </p:txBody>
      </p:sp>
      <p:graphicFrame>
        <p:nvGraphicFramePr>
          <p:cNvPr id="9" name="Top customers table"/>
          <p:cNvGraphicFramePr>
            <a:graphicFrameLocks noGrp="1"/>
          </p:cNvGraphicFramePr>
          <p:nvPr>
            <p:extLst>
              <p:ext uri="{D42A27DB-BD31-4B8C-83A1-F6EECF244321}">
                <p14:modId xmlns:p14="http://schemas.microsoft.com/office/powerpoint/2010/main" val="1579011935"/>
              </p:ext>
            </p:extLst>
          </p:nvPr>
        </p:nvGraphicFramePr>
        <p:xfrm>
          <a:off x="6126480" y="1920240"/>
          <a:ext cx="5486400" cy="914400"/>
        </p:xfrm>
        <a:graphic>
          <a:graphicData uri="http://schemas.openxmlformats.org/drawingml/2006/table">
            <a:tbl>
              <a:tblPr/>
              <a:tblGrid>
                <a:gridCol w="2560320"/>
                <a:gridCol w="1463040"/>
                <a:gridCol w="1463040"/>
              </a:tblGrid>
              <a:tr h="475488">
                <a:tc>
                  <a:txBody>
                    <a:bodyPr/>
                    <a:lstStyle/>
                    <a:p>
                      <a:pPr algn="l" indent="0" marL="0">
                        <a:buNone/>
                      </a:pPr>
                      <a:r>
                        <a:rPr lang="en-US" sz="1400" b="1" dirty="0">
                          <a:solidFill>
                            <a:srgbClr val="FFFFFF"/>
                          </a:solidFill>
                        </a:rPr>
                        <a:t>Customer</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rPr>
                        <a:t>Sales</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rPr>
                        <a:t>Profit</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solidFill>
                      <a:srgbClr val="14213D"/>
                    </a:solidFill>
                  </a:tcPr>
                </a:tc>
              </a:tr>
              <a:tr h="475488">
                <a:tc>
                  <a:txBody>
                    <a:bodyPr/>
                    <a:lstStyle/>
                    <a:p>
                      <a:pPr algn="l" indent="0" marL="0">
                        <a:buNone/>
                      </a:pPr>
                      <a:r>
                        <a:rPr lang="en-US" sz="1400" dirty="0">
                          <a:solidFill>
                            <a:srgbClr val="1F2937"/>
                          </a:solidFill>
                        </a:rPr>
                        <a:t>Sean Miller</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$25,043</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b="1" dirty="0">
                          <a:solidFill>
                            <a:srgbClr val="E76F51"/>
                          </a:solidFill>
                        </a:rPr>
                        <a:t>-$1,981</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r>
              <a:tr h="475488">
                <a:tc>
                  <a:txBody>
                    <a:bodyPr/>
                    <a:lstStyle/>
                    <a:p>
                      <a:pPr algn="l" indent="0" marL="0">
                        <a:buNone/>
                      </a:pPr>
                      <a:r>
                        <a:rPr lang="en-US" sz="1400" dirty="0">
                          <a:solidFill>
                            <a:srgbClr val="1F2937"/>
                          </a:solidFill>
                        </a:rPr>
                        <a:t>Tamara Chand</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$19,052</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$8,981</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r>
              <a:tr h="475488">
                <a:tc>
                  <a:txBody>
                    <a:bodyPr/>
                    <a:lstStyle/>
                    <a:p>
                      <a:pPr algn="l" indent="0" marL="0">
                        <a:buNone/>
                      </a:pPr>
                      <a:r>
                        <a:rPr lang="en-US" sz="1400" dirty="0">
                          <a:solidFill>
                            <a:srgbClr val="1F2937"/>
                          </a:solidFill>
                        </a:rPr>
                        <a:t>Raymond Buch</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$15,117</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$6,976</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r>
              <a:tr h="475488">
                <a:tc>
                  <a:txBody>
                    <a:bodyPr/>
                    <a:lstStyle/>
                    <a:p>
                      <a:pPr algn="l" indent="0" marL="0">
                        <a:buNone/>
                      </a:pPr>
                      <a:r>
                        <a:rPr lang="en-US" sz="1400" dirty="0">
                          <a:solidFill>
                            <a:srgbClr val="1F2937"/>
                          </a:solidFill>
                        </a:rPr>
                        <a:t>Tom Ashbrook</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$14,596</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$4,704</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r>
              <a:tr h="475488">
                <a:tc>
                  <a:txBody>
                    <a:bodyPr/>
                    <a:lstStyle/>
                    <a:p>
                      <a:pPr algn="l" indent="0" marL="0">
                        <a:buNone/>
                      </a:pPr>
                      <a:r>
                        <a:rPr lang="en-US" sz="1400" dirty="0">
                          <a:solidFill>
                            <a:srgbClr val="1F2937"/>
                          </a:solidFill>
                        </a:rPr>
                        <a:t>Adrian Barton</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$14,474</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c>
                  <a:txBody>
                    <a:bodyPr/>
                    <a:lstStyle/>
                    <a:p>
                      <a:pPr algn="r" indent="0" marL="0">
                        <a:buNone/>
                      </a:pPr>
                      <a:r>
                        <a:rPr lang="en-US" sz="1400" dirty="0">
                          <a:solidFill>
                            <a:srgbClr val="1F2937"/>
                          </a:solidFill>
                        </a:rPr>
                        <a:t>$5,445</a:t>
                      </a:r>
                      <a:endParaRPr lang="en-US" sz="1400" dirty="0"/>
                    </a:p>
                  </a:txBody>
                  <a:tcPr marL="109728" marR="109728" marT="0" marB="0" anchor="ctr">
                    <a:lnL w="6350" cap="flat" cmpd="sng" algn="ctr">
                      <a:solidFill>
                        <a:srgbClr val="D9E2E1"/>
                      </a:solidFill>
                      <a:prstDash val="solid"/>
                      <a:round/>
                      <a:headEnd type="none" w="med" len="med"/>
                      <a:tailEnd type="none" w="med" len="med"/>
                    </a:lnL>
                    <a:lnR w="6350" cap="flat" cmpd="sng" algn="ctr">
                      <a:solidFill>
                        <a:srgbClr val="D9E2E1"/>
                      </a:solidFill>
                      <a:prstDash val="solid"/>
                      <a:round/>
                      <a:headEnd type="none" w="med" len="med"/>
                      <a:tailEnd type="none" w="med" len="med"/>
                    </a:lnR>
                    <a:lnT w="6350" cap="flat" cmpd="sng" algn="ctr">
                      <a:solidFill>
                        <a:srgbClr val="D9E2E1"/>
                      </a:solidFill>
                      <a:prstDash val="solid"/>
                      <a:round/>
                      <a:headEnd type="none" w="med" len="med"/>
                      <a:tailEnd type="none" w="med" len="med"/>
                    </a:lnT>
                    <a:lnB w="6350" cap="flat" cmpd="sng" algn="ctr">
                      <a:solidFill>
                        <a:srgbClr val="D9E2E1"/>
                      </a:solidFill>
                      <a:prstDash val="solid"/>
                      <a:round/>
                      <a:headEnd type="none" w="med" len="med"/>
                      <a:tailEnd type="none" w="med" len="med"/>
                    </a:lnB>
                  </a:tcPr>
                </a:tc>
              </a:tr>
            </a:tbl>
          </a:graphicData>
        </a:graphic>
      </p:graphicFrame>
      <p:sp>
        <p:nvSpPr>
          <p:cNvPr id="6" name="Customer note"/>
          <p:cNvSpPr txBox="1"/>
          <p:nvPr/>
        </p:nvSpPr>
        <p:spPr>
          <a:xfrm>
            <a:off x="6126480" y="5074920"/>
            <a:ext cx="5486400" cy="914400"/>
          </a:xfrm>
          <a:prstGeom prst="rect">
            <a:avLst/>
          </a:prstGeom>
          <a:noFill/>
          <a:ln/>
        </p:spPr>
        <p:txBody>
          <a:bodyPr wrap="square" lIns="0" tIns="0" rIns="0" bIns="0" rtlCol="0" anchor="t"/>
          <a:lstStyle/>
          <a:p>
            <a:pPr indent="0" marL="0">
              <a:buNone/>
            </a:pPr>
            <a:r>
              <a:rPr lang="en-US" sz="1600" dirty="0">
                <a:solidFill>
                  <a:schemeClr val="tx1"/>
                </a:solidFill>
              </a:rPr>
              <a:t>Sean Miller is our biggest customer by sales, yet his orders lost us $2.0K.</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Discounts above 20% turn sales into losses</a:t>
            </a:r>
            <a:endParaRPr lang="en-US" sz="3400" dirty="0"/>
          </a:p>
        </p:txBody>
      </p:sp>
      <p:graphicFrame>
        <p:nvGraphicFramePr>
          <p:cNvPr id="3" name="Chart 0" descr=""/>
          <p:cNvGraphicFramePr/>
          <p:nvPr/>
        </p:nvGraphicFramePr>
        <p:xfrm>
          <a:off x="548640" y="137160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No discount card"/>
          <p:cNvSpPr/>
          <p:nvPr/>
        </p:nvSpPr>
        <p:spPr>
          <a:xfrm>
            <a:off x="8138160" y="1463040"/>
            <a:ext cx="3474720" cy="1554480"/>
          </a:xfrm>
          <a:prstGeom prst="roundRect">
            <a:avLst>
              <a:gd name="adj" fmla="val 7059"/>
            </a:avLst>
          </a:prstGeom>
          <a:solidFill>
            <a:schemeClr val="bg2"/>
          </a:solidFill>
          <a:ln/>
          <a:effectLst>
            <a:outerShdw sx="100000" sy="100000" kx="0" ky="0" algn="bl" rotWithShape="0" blurRad="101600" dist="25400" dir="5400000">
              <a:srgbClr val="000000">
                <a:alpha val="12000"/>
              </a:srgbClr>
            </a:outerShdw>
          </a:effectLst>
        </p:spPr>
      </p:sp>
      <p:sp>
        <p:nvSpPr>
          <p:cNvPr id="5" name="No discount value"/>
          <p:cNvSpPr txBox="1"/>
          <p:nvPr/>
        </p:nvSpPr>
        <p:spPr>
          <a:xfrm>
            <a:off x="8412480" y="1600200"/>
            <a:ext cx="2926080" cy="777240"/>
          </a:xfrm>
          <a:prstGeom prst="rect">
            <a:avLst/>
          </a:prstGeom>
          <a:noFill/>
          <a:ln/>
        </p:spPr>
        <p:txBody>
          <a:bodyPr wrap="square" lIns="0" tIns="0" rIns="0" bIns="0" rtlCol="0" anchor="b"/>
          <a:lstStyle/>
          <a:p>
            <a:pPr indent="0" marL="0">
              <a:buNone/>
            </a:pPr>
            <a:r>
              <a:rPr lang="en-US" sz="4000" b="1" dirty="0">
                <a:solidFill>
                  <a:schemeClr val="accent1"/>
                </a:solidFill>
              </a:rPr>
              <a:t>29.5%</a:t>
            </a:r>
            <a:endParaRPr lang="en-US" sz="4000" dirty="0"/>
          </a:p>
        </p:txBody>
      </p:sp>
      <p:sp>
        <p:nvSpPr>
          <p:cNvPr id="6" name="No discount label"/>
          <p:cNvSpPr txBox="1"/>
          <p:nvPr/>
        </p:nvSpPr>
        <p:spPr>
          <a:xfrm>
            <a:off x="8412480" y="2423160"/>
            <a:ext cx="2926080" cy="502920"/>
          </a:xfrm>
          <a:prstGeom prst="rect">
            <a:avLst/>
          </a:prstGeom>
          <a:noFill/>
          <a:ln/>
        </p:spPr>
        <p:txBody>
          <a:bodyPr wrap="square" lIns="0" tIns="0" rIns="0" bIns="0" rtlCol="0" anchor="t"/>
          <a:lstStyle/>
          <a:p>
            <a:pPr indent="0" marL="0">
              <a:buNone/>
            </a:pPr>
            <a:r>
              <a:rPr lang="en-US" sz="1400" dirty="0">
                <a:solidFill>
                  <a:schemeClr val="tx1"/>
                </a:solidFill>
              </a:rPr>
              <a:t>profit margin when there is no discount</a:t>
            </a:r>
            <a:endParaRPr lang="en-US" sz="1400" dirty="0"/>
          </a:p>
        </p:txBody>
      </p:sp>
      <p:sp>
        <p:nvSpPr>
          <p:cNvPr id="7" name="Heavy discount card"/>
          <p:cNvSpPr/>
          <p:nvPr/>
        </p:nvSpPr>
        <p:spPr>
          <a:xfrm>
            <a:off x="8138160" y="3246120"/>
            <a:ext cx="3474720" cy="1554480"/>
          </a:xfrm>
          <a:prstGeom prst="roundRect">
            <a:avLst>
              <a:gd name="adj" fmla="val 7059"/>
            </a:avLst>
          </a:prstGeom>
          <a:solidFill>
            <a:schemeClr val="bg2"/>
          </a:solidFill>
          <a:ln/>
          <a:effectLst>
            <a:outerShdw sx="100000" sy="100000" kx="0" ky="0" algn="bl" rotWithShape="0" blurRad="101600" dist="25400" dir="5400000">
              <a:srgbClr val="000000">
                <a:alpha val="12000"/>
              </a:srgbClr>
            </a:outerShdw>
          </a:effectLst>
        </p:spPr>
      </p:sp>
      <p:sp>
        <p:nvSpPr>
          <p:cNvPr id="8" name="Heavy discount value"/>
          <p:cNvSpPr txBox="1"/>
          <p:nvPr/>
        </p:nvSpPr>
        <p:spPr>
          <a:xfrm>
            <a:off x="8412480" y="3383280"/>
            <a:ext cx="2926080" cy="777240"/>
          </a:xfrm>
          <a:prstGeom prst="rect">
            <a:avLst/>
          </a:prstGeom>
          <a:noFill/>
          <a:ln/>
        </p:spPr>
        <p:txBody>
          <a:bodyPr wrap="square" lIns="0" tIns="0" rIns="0" bIns="0" rtlCol="0" anchor="b"/>
          <a:lstStyle/>
          <a:p>
            <a:pPr indent="0" marL="0">
              <a:buNone/>
            </a:pPr>
            <a:r>
              <a:rPr lang="en-US" sz="4000" b="1" dirty="0">
                <a:solidFill>
                  <a:schemeClr val="accent3"/>
                </a:solidFill>
              </a:rPr>
              <a:t>-$135.4K</a:t>
            </a:r>
            <a:endParaRPr lang="en-US" sz="4000" dirty="0"/>
          </a:p>
        </p:txBody>
      </p:sp>
      <p:sp>
        <p:nvSpPr>
          <p:cNvPr id="9" name="Heavy discount label"/>
          <p:cNvSpPr txBox="1"/>
          <p:nvPr/>
        </p:nvSpPr>
        <p:spPr>
          <a:xfrm>
            <a:off x="8412480" y="4206240"/>
            <a:ext cx="2926080" cy="502920"/>
          </a:xfrm>
          <a:prstGeom prst="rect">
            <a:avLst/>
          </a:prstGeom>
          <a:noFill/>
          <a:ln/>
        </p:spPr>
        <p:txBody>
          <a:bodyPr wrap="square" lIns="0" tIns="0" rIns="0" bIns="0" rtlCol="0" anchor="t"/>
          <a:lstStyle/>
          <a:p>
            <a:pPr indent="0" marL="0">
              <a:buNone/>
            </a:pPr>
            <a:r>
              <a:rPr lang="en-US" sz="1400" dirty="0">
                <a:solidFill>
                  <a:schemeClr val="tx1"/>
                </a:solidFill>
              </a:rPr>
              <a:t>profit on 1,393 order lines with more than 20% discount</a:t>
            </a:r>
            <a:endParaRPr lang="en-US" sz="1400" dirty="0"/>
          </a:p>
        </p:txBody>
      </p:sp>
      <p:sp>
        <p:nvSpPr>
          <p:cNvPr id="10" name="Discount takeaway"/>
          <p:cNvSpPr txBox="1"/>
          <p:nvPr/>
        </p:nvSpPr>
        <p:spPr>
          <a:xfrm>
            <a:off x="8138160" y="5029200"/>
            <a:ext cx="3474720" cy="1005840"/>
          </a:xfrm>
          <a:prstGeom prst="rect">
            <a:avLst/>
          </a:prstGeom>
          <a:noFill/>
          <a:ln/>
        </p:spPr>
        <p:txBody>
          <a:bodyPr wrap="square" lIns="0" tIns="0" rIns="0" bIns="0" rtlCol="0" anchor="t"/>
          <a:lstStyle/>
          <a:p>
            <a:pPr indent="0" marL="0">
              <a:buNone/>
            </a:pPr>
            <a:r>
              <a:rPr lang="en-US" sz="1500" b="1" dirty="0">
                <a:solidFill>
                  <a:schemeClr val="tx2"/>
                </a:solidFill>
              </a:rPr>
              <a:t>This is the main reason profit is lower than it should be.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2"/>
                </a:solidFill>
              </a:rPr>
              <a:t>What we should do next</a:t>
            </a:r>
            <a:endParaRPr lang="en-US" sz="3400" dirty="0"/>
          </a:p>
        </p:txBody>
      </p:sp>
      <p:sp>
        <p:nvSpPr>
          <p:cNvPr id="3" name="Recommendation card 1"/>
          <p:cNvSpPr/>
          <p:nvPr/>
        </p:nvSpPr>
        <p:spPr>
          <a:xfrm>
            <a:off x="548640" y="1463040"/>
            <a:ext cx="5367528"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4" name="Recommendation icon bg 1"/>
          <p:cNvSpPr/>
          <p:nvPr/>
        </p:nvSpPr>
        <p:spPr>
          <a:xfrm>
            <a:off x="868680" y="1783080"/>
            <a:ext cx="731520" cy="731520"/>
          </a:xfrm>
          <a:prstGeom prst="ellipse">
            <a:avLst/>
          </a:prstGeom>
          <a:solidFill>
            <a:schemeClr val="accent3"/>
          </a:solidFill>
          <a:ln/>
        </p:spPr>
      </p:sp>
      <p:pic>
        <p:nvPicPr>
          <p:cNvPr id="5" name="Image 0" descr="Cap discounts at 20% icon">    </p:cNvPr>
          <p:cNvPicPr>
            <a:picLocks noChangeAspect="1"/>
          </p:cNvPicPr>
          <p:nvPr/>
        </p:nvPicPr>
        <p:blipFill>
          <a:blip r:embed="rId1"/>
          <a:stretch>
            <a:fillRect/>
          </a:stretch>
        </p:blipFill>
        <p:spPr>
          <a:xfrm>
            <a:off x="1051560" y="1965960"/>
            <a:ext cx="365760" cy="365760"/>
          </a:xfrm>
          <a:prstGeom prst="rect">
            <a:avLst/>
          </a:prstGeom>
        </p:spPr>
      </p:pic>
      <p:sp>
        <p:nvSpPr>
          <p:cNvPr id="6" name="Recommendation title 1"/>
          <p:cNvSpPr txBox="1"/>
          <p:nvPr/>
        </p:nvSpPr>
        <p:spPr>
          <a:xfrm>
            <a:off x="1828800" y="1737360"/>
            <a:ext cx="3813048" cy="822960"/>
          </a:xfrm>
          <a:prstGeom prst="rect">
            <a:avLst/>
          </a:prstGeom>
          <a:noFill/>
          <a:ln/>
        </p:spPr>
        <p:txBody>
          <a:bodyPr wrap="square" lIns="0" tIns="0" rIns="0" bIns="0" rtlCol="0" anchor="ctr"/>
          <a:lstStyle/>
          <a:p>
            <a:pPr indent="0" marL="0">
              <a:buNone/>
            </a:pPr>
            <a:r>
              <a:rPr lang="en-US" sz="2200" b="1" dirty="0">
                <a:solidFill>
                  <a:schemeClr val="tx2"/>
                </a:solidFill>
              </a:rPr>
              <a:t>Cap discounts at 20%</a:t>
            </a:r>
            <a:endParaRPr lang="en-US" sz="2200" dirty="0"/>
          </a:p>
        </p:txBody>
      </p:sp>
      <p:sp>
        <p:nvSpPr>
          <p:cNvPr id="7" name="Recommendation text 1"/>
          <p:cNvSpPr txBox="1"/>
          <p:nvPr/>
        </p:nvSpPr>
        <p:spPr>
          <a:xfrm>
            <a:off x="868680" y="2651760"/>
            <a:ext cx="4727448" cy="822960"/>
          </a:xfrm>
          <a:prstGeom prst="rect">
            <a:avLst/>
          </a:prstGeom>
          <a:noFill/>
          <a:ln/>
        </p:spPr>
        <p:txBody>
          <a:bodyPr wrap="square" lIns="0" tIns="0" rIns="0" bIns="0" rtlCol="0" anchor="t"/>
          <a:lstStyle/>
          <a:p>
            <a:pPr indent="0" marL="0">
              <a:buNone/>
            </a:pPr>
            <a:r>
              <a:rPr lang="en-US" sz="1600" dirty="0">
                <a:solidFill>
                  <a:schemeClr val="tx1"/>
                </a:solidFill>
              </a:rPr>
              <a:t>No order line should go beyond 20% unless it is approved. This stops the biggest source of loss.</a:t>
            </a:r>
            <a:endParaRPr lang="en-US" sz="1600" dirty="0"/>
          </a:p>
        </p:txBody>
      </p:sp>
      <p:sp>
        <p:nvSpPr>
          <p:cNvPr id="8" name="Recommendation card 2"/>
          <p:cNvSpPr/>
          <p:nvPr/>
        </p:nvSpPr>
        <p:spPr>
          <a:xfrm>
            <a:off x="6245352" y="1463040"/>
            <a:ext cx="5367528"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9" name="Recommendation icon bg 2"/>
          <p:cNvSpPr/>
          <p:nvPr/>
        </p:nvSpPr>
        <p:spPr>
          <a:xfrm>
            <a:off x="6565392" y="1783080"/>
            <a:ext cx="731520" cy="731520"/>
          </a:xfrm>
          <a:prstGeom prst="ellipse">
            <a:avLst/>
          </a:prstGeom>
          <a:solidFill>
            <a:schemeClr val="accent3"/>
          </a:solidFill>
          <a:ln/>
        </p:spPr>
      </p:sp>
      <p:pic>
        <p:nvPicPr>
          <p:cNvPr id="10" name="Image 1" descr="Fix Tables and Bookcases icon">    </p:cNvPr>
          <p:cNvPicPr>
            <a:picLocks noChangeAspect="1"/>
          </p:cNvPicPr>
          <p:nvPr/>
        </p:nvPicPr>
        <p:blipFill>
          <a:blip r:embed="rId2"/>
          <a:stretch>
            <a:fillRect/>
          </a:stretch>
        </p:blipFill>
        <p:spPr>
          <a:xfrm>
            <a:off x="6748272" y="1965960"/>
            <a:ext cx="365760" cy="365760"/>
          </a:xfrm>
          <a:prstGeom prst="rect">
            <a:avLst/>
          </a:prstGeom>
        </p:spPr>
      </p:pic>
      <p:sp>
        <p:nvSpPr>
          <p:cNvPr id="11" name="Recommendation title 2"/>
          <p:cNvSpPr txBox="1"/>
          <p:nvPr/>
        </p:nvSpPr>
        <p:spPr>
          <a:xfrm>
            <a:off x="7525512" y="1737360"/>
            <a:ext cx="3813048" cy="822960"/>
          </a:xfrm>
          <a:prstGeom prst="rect">
            <a:avLst/>
          </a:prstGeom>
          <a:noFill/>
          <a:ln/>
        </p:spPr>
        <p:txBody>
          <a:bodyPr wrap="square" lIns="0" tIns="0" rIns="0" bIns="0" rtlCol="0" anchor="ctr"/>
          <a:lstStyle/>
          <a:p>
            <a:pPr indent="0" marL="0">
              <a:buNone/>
            </a:pPr>
            <a:r>
              <a:rPr lang="en-US" sz="2200" b="1" dirty="0">
                <a:solidFill>
                  <a:schemeClr val="tx2"/>
                </a:solidFill>
              </a:rPr>
              <a:t>Fix Tables and Bookcases</a:t>
            </a:r>
            <a:endParaRPr lang="en-US" sz="2200" dirty="0"/>
          </a:p>
        </p:txBody>
      </p:sp>
      <p:sp>
        <p:nvSpPr>
          <p:cNvPr id="12" name="Recommendation text 2"/>
          <p:cNvSpPr txBox="1"/>
          <p:nvPr/>
        </p:nvSpPr>
        <p:spPr>
          <a:xfrm>
            <a:off x="6565392" y="2651760"/>
            <a:ext cx="4727448" cy="822960"/>
          </a:xfrm>
          <a:prstGeom prst="rect">
            <a:avLst/>
          </a:prstGeom>
          <a:noFill/>
          <a:ln/>
        </p:spPr>
        <p:txBody>
          <a:bodyPr wrap="square" lIns="0" tIns="0" rIns="0" bIns="0" rtlCol="0" anchor="t"/>
          <a:lstStyle/>
          <a:p>
            <a:pPr indent="0" marL="0">
              <a:buNone/>
            </a:pPr>
            <a:r>
              <a:rPr lang="en-US" sz="1600" dirty="0">
                <a:solidFill>
                  <a:schemeClr val="tx1"/>
                </a:solidFill>
              </a:rPr>
              <a:t>Review prices and discounts on Tables, Bookcases and Supplies, which all lose money.</a:t>
            </a:r>
            <a:endParaRPr lang="en-US" sz="1600" dirty="0"/>
          </a:p>
        </p:txBody>
      </p:sp>
      <p:sp>
        <p:nvSpPr>
          <p:cNvPr id="13" name="Recommendation card 3"/>
          <p:cNvSpPr/>
          <p:nvPr/>
        </p:nvSpPr>
        <p:spPr>
          <a:xfrm>
            <a:off x="548640" y="3840480"/>
            <a:ext cx="5367528"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4" name="Recommendation icon bg 3"/>
          <p:cNvSpPr/>
          <p:nvPr/>
        </p:nvSpPr>
        <p:spPr>
          <a:xfrm>
            <a:off x="868680" y="4160520"/>
            <a:ext cx="731520" cy="731520"/>
          </a:xfrm>
          <a:prstGeom prst="ellipse">
            <a:avLst/>
          </a:prstGeom>
          <a:solidFill>
            <a:schemeClr val="accent3"/>
          </a:solidFill>
          <a:ln/>
        </p:spPr>
      </p:sp>
      <p:pic>
        <p:nvPicPr>
          <p:cNvPr id="15" name="Image 2" descr="Fix Central and loss-making states icon">    </p:cNvPr>
          <p:cNvPicPr>
            <a:picLocks noChangeAspect="1"/>
          </p:cNvPicPr>
          <p:nvPr/>
        </p:nvPicPr>
        <p:blipFill>
          <a:blip r:embed="rId3"/>
          <a:stretch>
            <a:fillRect/>
          </a:stretch>
        </p:blipFill>
        <p:spPr>
          <a:xfrm>
            <a:off x="1051560" y="4343400"/>
            <a:ext cx="365760" cy="365760"/>
          </a:xfrm>
          <a:prstGeom prst="rect">
            <a:avLst/>
          </a:prstGeom>
        </p:spPr>
      </p:pic>
      <p:sp>
        <p:nvSpPr>
          <p:cNvPr id="16" name="Recommendation title 3"/>
          <p:cNvSpPr txBox="1"/>
          <p:nvPr/>
        </p:nvSpPr>
        <p:spPr>
          <a:xfrm>
            <a:off x="1828800" y="4114800"/>
            <a:ext cx="3813048" cy="822960"/>
          </a:xfrm>
          <a:prstGeom prst="rect">
            <a:avLst/>
          </a:prstGeom>
          <a:noFill/>
          <a:ln/>
        </p:spPr>
        <p:txBody>
          <a:bodyPr wrap="square" lIns="0" tIns="0" rIns="0" bIns="0" rtlCol="0" anchor="ctr"/>
          <a:lstStyle/>
          <a:p>
            <a:pPr indent="0" marL="0">
              <a:buNone/>
            </a:pPr>
            <a:r>
              <a:rPr lang="en-US" sz="2200" b="1" dirty="0">
                <a:solidFill>
                  <a:schemeClr val="tx2"/>
                </a:solidFill>
              </a:rPr>
              <a:t>Fix Central and loss-making states</a:t>
            </a:r>
            <a:endParaRPr lang="en-US" sz="2200" dirty="0"/>
          </a:p>
        </p:txBody>
      </p:sp>
      <p:sp>
        <p:nvSpPr>
          <p:cNvPr id="17" name="Recommendation text 3"/>
          <p:cNvSpPr txBox="1"/>
          <p:nvPr/>
        </p:nvSpPr>
        <p:spPr>
          <a:xfrm>
            <a:off x="868680" y="5029200"/>
            <a:ext cx="4727448" cy="822960"/>
          </a:xfrm>
          <a:prstGeom prst="rect">
            <a:avLst/>
          </a:prstGeom>
          <a:noFill/>
          <a:ln/>
        </p:spPr>
        <p:txBody>
          <a:bodyPr wrap="square" lIns="0" tIns="0" rIns="0" bIns="0" rtlCol="0" anchor="t"/>
          <a:lstStyle/>
          <a:p>
            <a:pPr indent="0" marL="0">
              <a:buNone/>
            </a:pPr>
            <a:r>
              <a:rPr lang="en-US" sz="1600" dirty="0">
                <a:solidFill>
                  <a:schemeClr val="tx1"/>
                </a:solidFill>
              </a:rPr>
              <a:t>Bring Central discounts closer to the West level and review Texas, Ohio, Pennsylvania and Illinois.</a:t>
            </a:r>
            <a:endParaRPr lang="en-US" sz="1600" dirty="0"/>
          </a:p>
        </p:txBody>
      </p:sp>
      <p:sp>
        <p:nvSpPr>
          <p:cNvPr id="18" name="Recommendation card 4"/>
          <p:cNvSpPr/>
          <p:nvPr/>
        </p:nvSpPr>
        <p:spPr>
          <a:xfrm>
            <a:off x="6245352" y="3840480"/>
            <a:ext cx="5367528" cy="2103120"/>
          </a:xfrm>
          <a:prstGeom prst="roundRect">
            <a:avLst>
              <a:gd name="adj" fmla="val 5217"/>
            </a:avLst>
          </a:prstGeom>
          <a:solidFill>
            <a:schemeClr val="bg2"/>
          </a:solidFill>
          <a:ln/>
          <a:effectLst>
            <a:outerShdw sx="100000" sy="100000" kx="0" ky="0" algn="bl" rotWithShape="0" blurRad="101600" dist="25400" dir="5400000">
              <a:srgbClr val="000000">
                <a:alpha val="12000"/>
              </a:srgbClr>
            </a:outerShdw>
          </a:effectLst>
        </p:spPr>
      </p:sp>
      <p:sp>
        <p:nvSpPr>
          <p:cNvPr id="19" name="Recommendation icon bg 4"/>
          <p:cNvSpPr/>
          <p:nvPr/>
        </p:nvSpPr>
        <p:spPr>
          <a:xfrm>
            <a:off x="6565392" y="4160520"/>
            <a:ext cx="731520" cy="731520"/>
          </a:xfrm>
          <a:prstGeom prst="ellipse">
            <a:avLst/>
          </a:prstGeom>
          <a:solidFill>
            <a:schemeClr val="accent1"/>
          </a:solidFill>
          <a:ln/>
        </p:spPr>
      </p:sp>
      <p:pic>
        <p:nvPicPr>
          <p:cNvPr id="20" name="Image 3" descr="Grow what already works icon">    </p:cNvPr>
          <p:cNvPicPr>
            <a:picLocks noChangeAspect="1"/>
          </p:cNvPicPr>
          <p:nvPr/>
        </p:nvPicPr>
        <p:blipFill>
          <a:blip r:embed="rId4"/>
          <a:stretch>
            <a:fillRect/>
          </a:stretch>
        </p:blipFill>
        <p:spPr>
          <a:xfrm>
            <a:off x="6748272" y="4343400"/>
            <a:ext cx="365760" cy="365760"/>
          </a:xfrm>
          <a:prstGeom prst="rect">
            <a:avLst/>
          </a:prstGeom>
        </p:spPr>
      </p:pic>
      <p:sp>
        <p:nvSpPr>
          <p:cNvPr id="21" name="Recommendation title 4"/>
          <p:cNvSpPr txBox="1"/>
          <p:nvPr/>
        </p:nvSpPr>
        <p:spPr>
          <a:xfrm>
            <a:off x="7525512" y="4114800"/>
            <a:ext cx="3813048" cy="822960"/>
          </a:xfrm>
          <a:prstGeom prst="rect">
            <a:avLst/>
          </a:prstGeom>
          <a:noFill/>
          <a:ln/>
        </p:spPr>
        <p:txBody>
          <a:bodyPr wrap="square" lIns="0" tIns="0" rIns="0" bIns="0" rtlCol="0" anchor="ctr"/>
          <a:lstStyle/>
          <a:p>
            <a:pPr indent="0" marL="0">
              <a:buNone/>
            </a:pPr>
            <a:r>
              <a:rPr lang="en-US" sz="2200" b="1" dirty="0">
                <a:solidFill>
                  <a:schemeClr val="tx2"/>
                </a:solidFill>
              </a:rPr>
              <a:t>Grow what already works</a:t>
            </a:r>
            <a:endParaRPr lang="en-US" sz="2200" dirty="0"/>
          </a:p>
        </p:txBody>
      </p:sp>
      <p:sp>
        <p:nvSpPr>
          <p:cNvPr id="22" name="Recommendation text 4"/>
          <p:cNvSpPr txBox="1"/>
          <p:nvPr/>
        </p:nvSpPr>
        <p:spPr>
          <a:xfrm>
            <a:off x="6565392" y="5029200"/>
            <a:ext cx="4727448" cy="822960"/>
          </a:xfrm>
          <a:prstGeom prst="rect">
            <a:avLst/>
          </a:prstGeom>
          <a:noFill/>
          <a:ln/>
        </p:spPr>
        <p:txBody>
          <a:bodyPr wrap="square" lIns="0" tIns="0" rIns="0" bIns="0" rtlCol="0" anchor="t"/>
          <a:lstStyle/>
          <a:p>
            <a:pPr indent="0" marL="0">
              <a:buNone/>
            </a:pPr>
            <a:r>
              <a:rPr lang="en-US" sz="1600" dirty="0">
                <a:solidFill>
                  <a:schemeClr val="tx1"/>
                </a:solidFill>
              </a:rPr>
              <a:t>Push Technology and Office Supplies, and prepare stock and offers before the September to December peak.</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Decor circle large"/>
          <p:cNvSpPr/>
          <p:nvPr/>
        </p:nvSpPr>
        <p:spPr>
          <a:xfrm>
            <a:off x="8778240" y="822960"/>
            <a:ext cx="4389120" cy="4389120"/>
          </a:xfrm>
          <a:prstGeom prst="ellipse">
            <a:avLst/>
          </a:prstGeom>
          <a:solidFill>
            <a:schemeClr val="accent1">
              <a:alpha val="30000"/>
            </a:schemeClr>
          </a:solidFill>
          <a:ln/>
        </p:spPr>
      </p:sp>
      <p:sp>
        <p:nvSpPr>
          <p:cNvPr id="3" name="Decor circle small"/>
          <p:cNvSpPr/>
          <p:nvPr/>
        </p:nvSpPr>
        <p:spPr>
          <a:xfrm>
            <a:off x="9966960" y="4023360"/>
            <a:ext cx="2377440" cy="2377440"/>
          </a:xfrm>
          <a:prstGeom prst="ellipse">
            <a:avLst/>
          </a:prstGeom>
          <a:solidFill>
            <a:schemeClr val="accent2">
              <a:alpha val="40000"/>
            </a:schemeClr>
          </a:solidFill>
          <a:ln/>
        </p:spPr>
      </p:sp>
      <p:sp>
        <p:nvSpPr>
          <p:cNvPr id="4" name="Text 0"/>
          <p:cNvSpPr/>
          <p:nvPr>
            <p:ph idx="100" type="title" hasCustomPrompt="1"/>
          </p:nvPr>
        </p:nvSpPr>
        <p:spPr>
          <a:xfrm>
            <a:off x="822960" y="2011680"/>
            <a:ext cx="7863840" cy="1371600"/>
          </a:xfrm>
          <a:prstGeom prst="rect">
            <a:avLst/>
          </a:prstGeom>
          <a:noFill/>
          <a:ln/>
        </p:spPr>
        <p:txBody>
          <a:bodyPr wrap="square" lIns="0" tIns="0" rIns="0" bIns="0" rtlCol="0" anchor="b"/>
          <a:lstStyle/>
          <a:p>
            <a:pPr algn="l" indent="0" marL="0">
              <a:buNone/>
            </a:pPr>
            <a:r>
              <a:rPr lang="en-US" sz="4800" b="1" dirty="0">
                <a:solidFill>
                  <a:schemeClr val="bg1"/>
                </a:solidFill>
              </a:rPr>
              <a:t>Thank you</a:t>
            </a:r>
            <a:endParaRPr lang="en-US" sz="4800" dirty="0"/>
          </a:p>
        </p:txBody>
      </p:sp>
      <p:sp>
        <p:nvSpPr>
          <p:cNvPr id="5" name="Text 0"/>
          <p:cNvSpPr/>
          <p:nvPr>
            <p:ph idx="101" type="body" hasCustomPrompt="1"/>
          </p:nvPr>
        </p:nvSpPr>
        <p:spPr>
          <a:xfrm>
            <a:off x="822960" y="3520440"/>
            <a:ext cx="7772400" cy="914400"/>
          </a:xfrm>
          <a:prstGeom prst="rect">
            <a:avLst/>
          </a:prstGeom>
          <a:noFill/>
          <a:ln/>
        </p:spPr>
        <p:txBody>
          <a:bodyPr wrap="square" lIns="0" tIns="0" rIns="0" bIns="0" rtlCol="0" anchor="t"/>
          <a:lstStyle/>
          <a:p>
            <a:pPr indent="0" marL="0">
              <a:buNone/>
            </a:pPr>
            <a:r>
              <a:rPr lang="en-US" sz="2200" dirty="0">
                <a:solidFill>
                  <a:schemeClr val="bg2"/>
                </a:solidFill>
              </a:rPr>
              <a:t>Any questions?</a:t>
            </a:r>
            <a:endParaRPr lang="en-US" sz="2200" dirty="0"/>
          </a:p>
        </p:txBody>
      </p:sp>
      <p:sp>
        <p:nvSpPr>
          <p:cNvPr id="6" name="Data source"/>
          <p:cNvSpPr txBox="1"/>
          <p:nvPr/>
        </p:nvSpPr>
        <p:spPr>
          <a:xfrm>
            <a:off x="822960" y="5760720"/>
            <a:ext cx="7315200" cy="365760"/>
          </a:xfrm>
          <a:prstGeom prst="rect">
            <a:avLst/>
          </a:prstGeom>
          <a:noFill/>
          <a:ln/>
        </p:spPr>
        <p:txBody>
          <a:bodyPr wrap="square" lIns="0" tIns="0" rIns="0" bIns="0" rtlCol="0" anchor="ctr"/>
          <a:lstStyle/>
          <a:p>
            <a:pPr indent="0" marL="0">
              <a:buNone/>
            </a:pPr>
            <a:r>
              <a:rPr lang="en-US" sz="1600" dirty="0">
                <a:solidFill>
                  <a:schemeClr val="bg2"/>
                </a:solidFill>
              </a:rPr>
              <a:t>Data: Sample Superstore, 9,994 order lines, 2014 to 2017</a:t>
            </a:r>
            <a:endParaRPr lang="en-US" sz="1600" dirty="0"/>
          </a:p>
        </p:txBody>
      </p:sp>
    </p:spTree>
  </p:cSld>
  <p:clrMapOvr>
    <a:masterClrMapping/>
  </p:clrMapOvr>
</p:sld>
</file>

<file path=ppt/theme/theme1.xml><?xml version="1.0" encoding="utf-8"?>
<a:theme xmlns:a="http://schemas.openxmlformats.org/drawingml/2006/main" name="Pari Superstore">
  <a:themeElements>
    <a:clrScheme name="Pari Superstore">
      <a:dk1>
        <a:srgbClr val="1F2937"/>
      </a:dk1>
      <a:lt1>
        <a:srgbClr val="FFFFFF"/>
      </a:lt1>
      <a:dk2>
        <a:srgbClr val="14213D"/>
      </a:dk2>
      <a:lt2>
        <a:srgbClr val="EAF5F3"/>
      </a:lt2>
      <a:accent1>
        <a:srgbClr val="2A9D8F"/>
      </a:accent1>
      <a:accent2>
        <a:srgbClr val="F4A261"/>
      </a:accent2>
      <a:accent3>
        <a:srgbClr val="E76F51"/>
      </a:accent3>
      <a:accent4>
        <a:srgbClr val="3599B8"/>
      </a:accent4>
      <a:accent5>
        <a:srgbClr val="E9C46A"/>
      </a:accent5>
      <a:accent6>
        <a:srgbClr val="6B7280"/>
      </a:accent6>
      <a:hlink>
        <a:srgbClr val="2A9D8F"/>
      </a:hlink>
      <a:folHlink>
        <a:srgbClr val="6B7280"/>
      </a:folHlink>
    </a:clrScheme>
    <a:fontScheme name="Pari Supersto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Superstore Sales Analysis 2014-2017</dc:title>
  <dc:subject>PptxGenJS Presentation</dc:subject>
  <dc:creator>Pari Singhal</dc:creator>
  <cp:lastModifiedBy>Pari Singhal</cp:lastModifiedBy>
  <cp:revision>1</cp:revision>
  <dcterms:created xsi:type="dcterms:W3CDTF">2026-10-12T11:58:09Z</dcterms:created>
  <dcterms:modified xsi:type="dcterms:W3CDTF">2026-10-12T11:58:09Z</dcterms:modified>
</cp:coreProperties>
</file>